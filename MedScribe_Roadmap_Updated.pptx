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76809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6583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MedScribe AI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 on Patients.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Handle the Rest.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AA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patient journey — from booking to referral — powered by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AA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AI. Real-time transcription, translation, and live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AA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 support.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4160520"/>
            <a:ext cx="1325880" cy="502920"/>
          </a:xfrm>
          <a:prstGeom prst="rect">
            <a:avLst>
              <a:gd name="adj" fmla="val 9091"/>
            </a:avLst>
          </a:prstGeom>
          <a:solidFill>
            <a:srgbClr val="142A4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7024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4128" y="41605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Copilot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103120" y="4160520"/>
            <a:ext cx="1325880" cy="502920"/>
          </a:xfrm>
          <a:prstGeom prst="rect">
            <a:avLst>
              <a:gd name="adj" fmla="val 9091"/>
            </a:avLst>
          </a:prstGeom>
          <a:solidFill>
            <a:srgbClr val="142A4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427024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87168" y="41605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hrs/day saved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3566160" y="4160520"/>
            <a:ext cx="1325880" cy="502920"/>
          </a:xfrm>
          <a:prstGeom prst="rect">
            <a:avLst>
              <a:gd name="adj" fmla="val 9091"/>
            </a:avLst>
          </a:prstGeom>
          <a:solidFill>
            <a:srgbClr val="142A45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4270248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50208" y="41605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&amp; GDPR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5029200" y="4160520"/>
            <a:ext cx="1325880" cy="502920"/>
          </a:xfrm>
          <a:prstGeom prst="rect">
            <a:avLst>
              <a:gd name="adj" fmla="val 9091"/>
            </a:avLst>
          </a:prstGeom>
          <a:solidFill>
            <a:srgbClr val="142A45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4270248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13248" y="41605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6583680" y="54864"/>
            <a:ext cx="2560320" cy="5088636"/>
          </a:xfrm>
          <a:prstGeom prst="rect">
            <a:avLst/>
          </a:prstGeom>
          <a:solidFill>
            <a:srgbClr val="028090">
              <a:alpha val="85000"/>
            </a:srgbClr>
          </a:solidFill>
          <a:ln/>
        </p:spPr>
      </p:sp>
      <p:sp>
        <p:nvSpPr>
          <p:cNvPr id="21" name="Text 14"/>
          <p:cNvSpPr/>
          <p:nvPr/>
        </p:nvSpPr>
        <p:spPr>
          <a:xfrm>
            <a:off x="6675120" y="11887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INCUBATION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7315200" y="2743200"/>
            <a:ext cx="10972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6766560" y="3017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4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Pirjol, MBA, MSc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4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6766560" y="3840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cannot train enough physicians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meet demand.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Physicians spend 49% of their workday on documentation — nearly double the 27% spent on patients. The WHO projects a 10M health worker shortfall by 2030. In multilingual hospitals, documentation errors compound clinical risk.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18745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514600"/>
            <a:ext cx="1874520" cy="54864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7889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77240" y="37947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workday lost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documentation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97480" y="2514600"/>
            <a:ext cx="18745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97480" y="2514600"/>
            <a:ext cx="1874520" cy="54864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27889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34640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10M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2834640" y="37947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worker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shortfall by 2030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54880" y="2514600"/>
            <a:ext cx="18745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54880" y="2514600"/>
            <a:ext cx="1874520" cy="54864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7889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92040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600" dirty="0"/>
          </a:p>
        </p:txBody>
      </p:sp>
      <p:sp>
        <p:nvSpPr>
          <p:cNvPr id="20" name="Text 15"/>
          <p:cNvSpPr/>
          <p:nvPr/>
        </p:nvSpPr>
        <p:spPr>
          <a:xfrm>
            <a:off x="4892040" y="37947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burnout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812280" y="2514600"/>
            <a:ext cx="18745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812280" y="2514600"/>
            <a:ext cx="1874520" cy="54864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7889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49440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2×</a:t>
            </a:r>
            <a:endParaRPr lang="en-US" sz="3600" dirty="0"/>
          </a:p>
        </p:txBody>
      </p:sp>
      <p:sp>
        <p:nvSpPr>
          <p:cNvPr id="25" name="Text 19"/>
          <p:cNvSpPr/>
          <p:nvPr/>
        </p:nvSpPr>
        <p:spPr>
          <a:xfrm>
            <a:off x="6949440" y="37947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errors in cross-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consultations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40080" y="4553712"/>
            <a:ext cx="7863840" cy="9144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640080" y="45720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solution covers the full patient cycle or spans multiple languages simultaneously.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40080" y="4828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Sinsky et al., Annals of Internal Medicine, 2016 (AMA/Dartmouth-Hitchcock).  ² Boniol et al., BMJ Global Health, 2022; WHO Global Strategy on HRH: Workforce 2030.  ³ O'Connor et al., European Psychiatry, 2018 — meta-analysis of 62 studies, 33 countries (n=9,409).  ⁴ Based on multilingual hospital documentation error analysis.</a:t>
            </a:r>
            <a:endParaRPr lang="en-US" sz="600" dirty="0"/>
          </a:p>
        </p:txBody>
      </p:sp>
      <p:sp>
        <p:nvSpPr>
          <p:cNvPr id="29" name="Text 2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Patient Journey — One Platform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competitor stops at the consultation. MedScribe AI owns the entire cycle.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43000" y="1783080"/>
            <a:ext cx="411480" cy="411480"/>
          </a:xfrm>
          <a:prstGeom prst="ellipse">
            <a:avLst/>
          </a:prstGeom>
          <a:solidFill>
            <a:srgbClr val="03A5B5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65960" y="1783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34640" y="1783080"/>
            <a:ext cx="411480" cy="411480"/>
          </a:xfrm>
          <a:prstGeom prst="ellipse">
            <a:avLst/>
          </a:prstGeom>
          <a:solidFill>
            <a:srgbClr val="03A5B5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31720" y="22402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Pre-Visit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1783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26280" y="17830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23360" y="22402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49240" y="1783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1783080"/>
            <a:ext cx="411480" cy="411480"/>
          </a:xfrm>
          <a:prstGeom prst="ellipse">
            <a:avLst/>
          </a:prstGeom>
          <a:solidFill>
            <a:srgbClr val="03A5B5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15000" y="22402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Post-Visit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40880" y="1783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909560" y="1783080"/>
            <a:ext cx="411480" cy="411480"/>
          </a:xfrm>
          <a:prstGeom prst="ellipse">
            <a:avLst/>
          </a:prstGeom>
          <a:solidFill>
            <a:srgbClr val="03A5B5"/>
          </a:solidFill>
          <a:ln/>
        </p:spPr>
      </p:sp>
      <p:sp>
        <p:nvSpPr>
          <p:cNvPr id="23" name="Text 21"/>
          <p:cNvSpPr/>
          <p:nvPr/>
        </p:nvSpPr>
        <p:spPr>
          <a:xfrm>
            <a:off x="790956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06640" y="22402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2788920"/>
            <a:ext cx="18745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2788920"/>
            <a:ext cx="54864" cy="196596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971800"/>
            <a:ext cx="320040" cy="32004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2296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Transcription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22960" y="37947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Word-by-word with speaker identification across any language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697480" y="2788920"/>
            <a:ext cx="18745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697480" y="2788920"/>
            <a:ext cx="54864" cy="196596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2971800"/>
            <a:ext cx="320040" cy="32004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288036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Translation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2880360" y="37947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overlay so every participant understands every word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4754880" y="2788920"/>
            <a:ext cx="18745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754880" y="2788920"/>
            <a:ext cx="54864" cy="196596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971800"/>
            <a:ext cx="320040" cy="32004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493776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Copilot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4937760" y="37947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follow-up questions and evolving differential Dx — live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6812280" y="2788920"/>
            <a:ext cx="18745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6812280" y="2788920"/>
            <a:ext cx="54864" cy="196596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971800"/>
            <a:ext cx="320040" cy="32004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699516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Notes</a:t>
            </a:r>
            <a:endParaRPr lang="en-US" sz="1300" dirty="0"/>
          </a:p>
        </p:txBody>
      </p:sp>
      <p:sp>
        <p:nvSpPr>
          <p:cNvPr id="44" name="Text 38"/>
          <p:cNvSpPr/>
          <p:nvPr/>
        </p:nvSpPr>
        <p:spPr>
          <a:xfrm>
            <a:off x="6995160" y="37947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Source-traceable SOAP notes — every sentence linked to what was said</a:t>
            </a:r>
            <a:endParaRPr lang="en-US" sz="1050" dirty="0"/>
          </a:p>
        </p:txBody>
      </p:sp>
      <p:sp>
        <p:nvSpPr>
          <p:cNvPr id="45" name="Text 3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Intelligent Layers, Real Time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layers run simultaneously. The doctor sees transcription, translation, and AI suggestions updating in real time — no waiting.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60604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83080"/>
            <a:ext cx="2606040" cy="7315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32588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Transcription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2697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⚡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97280" y="2697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 Nova-3 Medical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3154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⚡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9728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3.45% WER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3611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⚡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97280" y="3611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streaming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2960" y="4069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⚡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7280" y="4069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diarization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474720" y="1783080"/>
            <a:ext cx="260604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474720" y="1783080"/>
            <a:ext cx="2606040" cy="73152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920240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16052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16052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Translation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3657600" y="2697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⚡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3931920" y="2697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/ Azure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3657600" y="3154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⚡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393192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glossaries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3657600" y="3611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⚡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3931920" y="3611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&lt;500ms latency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3657600" y="4069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⚡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3931920" y="4069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for speed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309360" y="1783080"/>
            <a:ext cx="260604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309360" y="1783080"/>
            <a:ext cx="2606040" cy="73152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920240"/>
            <a:ext cx="411480" cy="4114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99516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99516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Copilot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6492240" y="2697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⚡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6766560" y="2697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GPT-4o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6492240" y="3154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⚡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676656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differential Dx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6492240" y="3611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⚡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6766560" y="3611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6492240" y="4069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⚡</a:t>
            </a:r>
            <a:endParaRPr lang="en-US" sz="1200" dirty="0"/>
          </a:p>
        </p:txBody>
      </p:sp>
      <p:sp>
        <p:nvSpPr>
          <p:cNvPr id="44" name="Text 39"/>
          <p:cNvSpPr/>
          <p:nvPr/>
        </p:nvSpPr>
        <p:spPr>
          <a:xfrm>
            <a:off x="6766560" y="4069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alerts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benchmarks from Deepgram Nova-3 Medical documentation. Translation latency based on Google Cloud Translation API &amp; Azure Cognitive Services specifications. LLM capabilities per Anthropic Claude and OpenAI GPT-4o technical reports.</a:t>
            </a:r>
            <a:endParaRPr lang="en-US" sz="650" dirty="0"/>
          </a:p>
        </p:txBody>
      </p:sp>
      <p:sp>
        <p:nvSpPr>
          <p:cNvPr id="46" name="Text 41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Thinks During the Consultation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analyze after. MedScribe AI delivers evolving insights while the patient is still in the room.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840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83080"/>
            <a:ext cx="3840480" cy="54864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Clinical Copilot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377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Questions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2606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"Have you experienced blurred vision?"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22960" y="28620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"Any family history of hypertension?"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22960" y="3118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did you stop taking the medicine?"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2296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Differential Dx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22960" y="3685032"/>
            <a:ext cx="457200" cy="20116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685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137160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Hypertensive urgency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22960" y="3931920"/>
            <a:ext cx="457200" cy="201168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39319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371600" y="3913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Hypertensive emergency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2960" y="4251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Flags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2960" y="4480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160/95 — medication non-adherence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urgent fundoscopy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663440" y="1783080"/>
            <a:ext cx="3840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1783080"/>
            <a:ext cx="3840480" cy="54864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65960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21208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SOAP Notes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5212080" y="2240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traceability score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846320" y="2578608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5"/>
          <p:cNvSpPr/>
          <p:nvPr/>
        </p:nvSpPr>
        <p:spPr>
          <a:xfrm>
            <a:off x="4846320" y="2578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5166360" y="2560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Headaches for 1 week, worse in mornings.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Discontinued Amlodipine 5mg 3 days ago.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4846320" y="3108960"/>
            <a:ext cx="256032" cy="256032"/>
          </a:xfrm>
          <a:prstGeom prst="ellipse">
            <a:avLst/>
          </a:prstGeom>
          <a:solidFill>
            <a:srgbClr val="03A5B5"/>
          </a:solidFill>
          <a:ln/>
        </p:spPr>
      </p:sp>
      <p:sp>
        <p:nvSpPr>
          <p:cNvPr id="32" name="Text 28"/>
          <p:cNvSpPr/>
          <p:nvPr/>
        </p:nvSpPr>
        <p:spPr>
          <a:xfrm>
            <a:off x="4846320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5166360" y="30906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BP: 160/95 mmHg. Dizziness,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blurred vision.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4846320" y="3639312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5" name="Text 31"/>
          <p:cNvSpPr/>
          <p:nvPr/>
        </p:nvSpPr>
        <p:spPr>
          <a:xfrm>
            <a:off x="4846320" y="3639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5166360" y="36210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Hypertensive urgency secondary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medication non-adherence.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4846320" y="4169664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4"/>
          <p:cNvSpPr/>
          <p:nvPr/>
        </p:nvSpPr>
        <p:spPr>
          <a:xfrm>
            <a:off x="4846320" y="4169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5166360" y="415137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Amlodipine 5mg. Order BMP,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fundoscopy. Follow-up 48h.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4800600" y="4160520"/>
            <a:ext cx="3566160" cy="502920"/>
          </a:xfrm>
          <a:prstGeom prst="rect">
            <a:avLst/>
          </a:prstGeom>
          <a:solidFill>
            <a:srgbClr val="F0F2F4"/>
          </a:solidFill>
          <a:ln/>
        </p:spPr>
      </p:sp>
      <p:sp>
        <p:nvSpPr>
          <p:cNvPr id="41" name="Text 37"/>
          <p:cNvSpPr/>
          <p:nvPr/>
        </p:nvSpPr>
        <p:spPr>
          <a:xfrm>
            <a:off x="4937760" y="4160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Patient summary auto-generated in patient's language  ·  6th-grade reading level  ·  Full RTL support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and Working Today</a:t>
            </a:r>
            <a:endParaRPr lang="en-US" sz="2400" dirty="0"/>
          </a:p>
        </p:txBody>
      </p:sp>
      <p:pic>
        <p:nvPicPr>
          <p:cNvPr id="5" name="Image 0" descr="/mnt/user-data/uploads/Captura__de_ecran_din_2026-02-27_la_21_23_5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859536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CLINICAL COPILOT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Thinks During the Consultation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6052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/home/claude/product_ques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4069080" cy="2880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960120"/>
            <a:ext cx="416052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8" name="Image 1" descr="/home/claude/product_med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1005840"/>
            <a:ext cx="4069080" cy="2880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400507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AI-Suggested Questions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20040" y="42336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clinical questions surface in real time as the doctor speaks — nothing missed.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663440" y="400507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&amp; Interaction Tracking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663440" y="42336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 detected from conversation. Drug interactions checked automatically — zero manual entry.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40080" y="47548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Anthropic Claude  ·  Real-time streaming via Deepgram Nova-3 Medical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Numbers That Matter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CLINICIANS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874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099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hrs/day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Reclaimed from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1600200"/>
            <a:ext cx="1874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34640" y="17099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30-sec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34640" y="21488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prep replaces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min chart review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600200"/>
            <a:ext cx="1874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7099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92040" y="21488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screen time —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patient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1600200"/>
            <a:ext cx="1874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17099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8+ hrs/wk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49440" y="21488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'pajama time'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CLINICS &amp; PRACTICES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337560"/>
            <a:ext cx="1874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34472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hrs/wk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77240" y="38862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provider regained in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manual-doc settings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97480" y="3337560"/>
            <a:ext cx="1874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834640" y="34472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10-20%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834640" y="38862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patients seen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provider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337560"/>
            <a:ext cx="1874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4472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15-25%+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92040" y="38862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uplift from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&amp; coding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12280" y="3337560"/>
            <a:ext cx="1874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49440" y="34472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revenue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949440" y="38862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data for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&amp; RWE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 based on clinical AI scribe benchmarks. Sinsky et al. (AMA, 2016); Tai-Seale et al., Health Affairs, 2017; Tierney et al., JAMIA, 2024. Revenue uplift estimates per McKinsey &amp; Co. healthcare practice.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$27B+ Global Market by 2033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 health workers short by 2030 and half of clinician capacity lost to documentation — clinical AI is no longer optional.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7863840" cy="2194560"/>
          </a:xfrm>
          <a:prstGeom prst="rect">
            <a:avLst/>
          </a:prstGeom>
          <a:solidFill>
            <a:srgbClr val="028090">
              <a:alpha val="8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920240" y="1828800"/>
            <a:ext cx="5303520" cy="2194560"/>
          </a:xfrm>
          <a:prstGeom prst="rect">
            <a:avLst/>
          </a:prstGeom>
          <a:solidFill>
            <a:srgbClr val="028090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200400" y="1828800"/>
            <a:ext cx="2743200" cy="2194560"/>
          </a:xfrm>
          <a:prstGeom prst="rect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$27B+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0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clinical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0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by 2033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0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(28.4% CAGR)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$16B+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931920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0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Outpatient, specialty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0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mental health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$500M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583680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multi-specialty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mental health globally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Regions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123444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45262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11680" y="4526280"/>
            <a:ext cx="123444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011680" y="45262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4526280"/>
            <a:ext cx="123444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83280" y="45262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4526280"/>
            <a:ext cx="123444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5262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4526280"/>
            <a:ext cx="123444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26480" y="45262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America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98080" y="4526280"/>
            <a:ext cx="123444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98080" y="45262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TAM: Grand View Research, AI in Healthcare Market Report, 2033 (38.9% CAGR); Market.us AI in Medicine Report, 2033 (27.6% CAGR). SAM/SOM: Company estimates based on outpatient specialty &amp; mental health addressable segments. WHO Global Health Expenditure Database.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MedScribe AI Wins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25880"/>
            <a:ext cx="54864" cy="1691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4630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463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Patient Journey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874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→ consultation → referral → continuity. Competitors stop at the consultation.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9000" y="132588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325880"/>
            <a:ext cx="54864" cy="1691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3611880" y="14630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0" y="1463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Mental Health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11880" y="1874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in-session documentation. Clinicians fully present. Post-session notes generated instantly.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132588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325880"/>
            <a:ext cx="54864" cy="1691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14630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12280" y="1463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Clinical Copilot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1874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thinks during the consultation — differential Dx, safety alerts, questions. Competitors analyze after.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20040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200400"/>
            <a:ext cx="54864" cy="1691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333756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3337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Source-Traceable Notes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37490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traceability. Click any sentence → exact transcript moment. Evidence-linked audio trail.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29000" y="320040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29000" y="3200400"/>
            <a:ext cx="54864" cy="1691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Shape 29"/>
          <p:cNvSpPr/>
          <p:nvPr/>
        </p:nvSpPr>
        <p:spPr>
          <a:xfrm>
            <a:off x="3611880" y="333756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361188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23360" y="3337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Native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11880" y="37490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transcription &amp; translation. &lt;500ms latency. Medical glossaries. Full RTL support.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17920" y="320040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3200400"/>
            <a:ext cx="54864" cy="1691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0" y="333756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12280" y="3337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Cross-Clinic Booking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00800" y="37490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discover, compare, and book across clinics. Built-in analytics. No competitor touches the patient.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How MedScribe AI Stacks Up</a:t>
            </a:r>
            <a:endParaRPr lang="en-US" sz="2400" dirty="0"/>
          </a:p>
        </p:txBody>
      </p:sp>
      <p:pic>
        <p:nvPicPr>
          <p:cNvPr id="5" name="Image 0" descr="/home/claude/comparison_cropp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859536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89204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Company websites and product documentation (2025–2026).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Per-Clinician Licensing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scalable revenue with enterprise tiers for larger deployments.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260604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920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$99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/clinician/month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transcription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3649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 languages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62102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SOAP notes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87705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PDF export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41330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 support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1737360"/>
            <a:ext cx="2606040" cy="30632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0" y="182880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74720" y="2011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74720" y="2377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$199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474720" y="28346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/clinician/month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49040" y="31089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Starter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49040" y="33649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languages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49040" y="362102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translation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49040" y="387705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Clinical Copilot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49040" y="41330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EMR integration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49040" y="43891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1737360"/>
            <a:ext cx="260604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09360" y="1920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09360" y="2286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309360" y="27432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0" y="31089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Professional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33649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On-premise deployment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0" y="362102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SSO / SAML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0" y="387705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glossaries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0" y="41330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success manager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0" y="43891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SLA guarantee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to Market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863840" cy="73152"/>
          </a:xfrm>
          <a:prstGeom prst="rect">
            <a:avLst/>
          </a:prstGeom>
          <a:solidFill>
            <a:srgbClr val="028090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417320" y="146304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920240"/>
            <a:ext cx="18745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0299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2677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2606040"/>
            <a:ext cx="1005840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2606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77240" y="2971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ASR integration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Multilingual transcription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611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SOAP notes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931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Demo mode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0" y="1463040"/>
            <a:ext cx="274320" cy="274320"/>
          </a:xfrm>
          <a:prstGeom prst="ellipse">
            <a:avLst/>
          </a:prstGeom>
          <a:solidFill>
            <a:srgbClr val="03A5B5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697480" y="1920240"/>
            <a:ext cx="18745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834640" y="20299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22677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834640" y="2606040"/>
            <a:ext cx="1005840" cy="228600"/>
          </a:xfrm>
          <a:prstGeom prst="rect">
            <a:avLst/>
          </a:prstGeom>
          <a:solidFill>
            <a:srgbClr val="03A5B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834640" y="2606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834640" y="2971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Clinical Copilot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3291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translation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34640" y="3611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Source traceability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34640" y="3931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Patient summaries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32120" y="1463040"/>
            <a:ext cx="274320" cy="274320"/>
          </a:xfrm>
          <a:prstGeom prst="ellipse">
            <a:avLst/>
          </a:prstGeom>
          <a:solidFill>
            <a:srgbClr val="03A5B5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754880" y="1920240"/>
            <a:ext cx="18745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892040" y="20299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22677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892040" y="2606040"/>
            <a:ext cx="1005840" cy="228600"/>
          </a:xfrm>
          <a:prstGeom prst="rect">
            <a:avLst/>
          </a:prstGeom>
          <a:solidFill>
            <a:srgbClr val="03A5B5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892040" y="2606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892040" y="2971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EMR / FHIR integration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291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On-premise deployment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611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 dashboard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3931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SSO / SAML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589520" y="1463040"/>
            <a:ext cx="274320" cy="274320"/>
          </a:xfrm>
          <a:prstGeom prst="ellipse">
            <a:avLst/>
          </a:prstGeom>
          <a:solidFill>
            <a:srgbClr val="03A5B5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812280" y="1920240"/>
            <a:ext cx="18745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949440" y="20299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49440" y="22677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949440" y="2606040"/>
            <a:ext cx="1005840" cy="228600"/>
          </a:xfrm>
          <a:prstGeom prst="rect">
            <a:avLst/>
          </a:prstGeom>
          <a:solidFill>
            <a:srgbClr val="F4A940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949440" y="2606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949440" y="2971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Specialty models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49440" y="3291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Institutional learning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49440" y="3611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marketplace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49440" y="3931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Regional expansion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Diana Pirjol, MBA, MSc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201168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Cambridge Scholar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834640" y="1463040"/>
            <a:ext cx="201168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Fulbright Scholar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0" y="1463040"/>
            <a:ext cx="201168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MBA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965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100+ healthcare ventures across 8 markets. Built 4 ventures from concept to market at AstraZeneca. None solved the full patient journey — so I built MedScribe AI and validated the product end to end with practicing physicians.</a:t>
            </a:r>
            <a:endParaRPr lang="en-US" sz="10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14600"/>
            <a:ext cx="1234440" cy="32004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514600"/>
            <a:ext cx="1234440" cy="32004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514600"/>
            <a:ext cx="1234440" cy="320040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514600"/>
            <a:ext cx="1234440" cy="320040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2514600"/>
            <a:ext cx="1234440" cy="320040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2514600"/>
            <a:ext cx="1234440" cy="32004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40080" y="297180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108960"/>
            <a:ext cx="320040" cy="32004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188720" y="3081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what gets funded</a:t>
            </a:r>
            <a:endParaRPr lang="en-US" sz="1200" dirty="0"/>
          </a:p>
        </p:txBody>
      </p:sp>
      <p:sp>
        <p:nvSpPr>
          <p:cNvPr id="22" name="Text 13"/>
          <p:cNvSpPr/>
          <p:nvPr/>
        </p:nvSpPr>
        <p:spPr>
          <a:xfrm>
            <a:off x="1188720" y="33558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$20M World Bank portfolio. EU Innovation Council Expert — 55+ proposals. $77.8M health program.</a:t>
            </a:r>
            <a:endParaRPr lang="en-US" sz="950" dirty="0"/>
          </a:p>
        </p:txBody>
      </p:sp>
      <p:sp>
        <p:nvSpPr>
          <p:cNvPr id="23" name="Shape 14"/>
          <p:cNvSpPr/>
          <p:nvPr/>
        </p:nvSpPr>
        <p:spPr>
          <a:xfrm>
            <a:off x="4754880" y="297180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108960"/>
            <a:ext cx="320040" cy="32004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03520" y="3081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inside Big Pharma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5303520" y="33558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ventures at AstraZeneca. Restructuring at Sandoz/Novartis HQ. 12 pharma cos at IQVIA.</a:t>
            </a:r>
            <a:endParaRPr lang="en-US" sz="950" dirty="0"/>
          </a:p>
        </p:txBody>
      </p:sp>
      <p:sp>
        <p:nvSpPr>
          <p:cNvPr id="27" name="Shape 17"/>
          <p:cNvSpPr/>
          <p:nvPr/>
        </p:nvSpPr>
        <p:spPr>
          <a:xfrm>
            <a:off x="640080" y="402336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4160520"/>
            <a:ext cx="320040" cy="32004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1188720" y="4133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the product</a:t>
            </a:r>
            <a:endParaRPr lang="en-US" sz="1200" dirty="0"/>
          </a:p>
        </p:txBody>
      </p:sp>
      <p:sp>
        <p:nvSpPr>
          <p:cNvPr id="30" name="Text 19"/>
          <p:cNvSpPr/>
          <p:nvPr/>
        </p:nvSpPr>
        <p:spPr>
          <a:xfrm>
            <a:off x="1188720" y="44074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Sciences. MSc Cambridge (Gates Scholar). MBA. Maths &amp; programming background.</a:t>
            </a:r>
            <a:endParaRPr lang="en-US" sz="950" dirty="0"/>
          </a:p>
        </p:txBody>
      </p:sp>
      <p:sp>
        <p:nvSpPr>
          <p:cNvPr id="31" name="Shape 20"/>
          <p:cNvSpPr/>
          <p:nvPr/>
        </p:nvSpPr>
        <p:spPr>
          <a:xfrm>
            <a:off x="4754880" y="402336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4160520"/>
            <a:ext cx="320040" cy="32004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5303520" y="4133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 sell it</a:t>
            </a:r>
            <a:endParaRPr lang="en-US" sz="1200" dirty="0"/>
          </a:p>
        </p:txBody>
      </p:sp>
      <p:sp>
        <p:nvSpPr>
          <p:cNvPr id="34" name="Text 22"/>
          <p:cNvSpPr/>
          <p:nvPr/>
        </p:nvSpPr>
        <p:spPr>
          <a:xfrm>
            <a:off x="5303520" y="44074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AstraZeneca, Novartis, Sanofi, Pfizer, MSD, Medtronic, 8+ more. €1.5M grants. 140+ experts.</a:t>
            </a:r>
            <a:endParaRPr lang="en-US" sz="950" dirty="0"/>
          </a:p>
        </p:txBody>
      </p:sp>
      <p:sp>
        <p:nvSpPr>
          <p:cNvPr id="35" name="Text 2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 From the Incubator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A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MedScribe AI is at a critical inflection point: product validated, technology proven, founder-market fit established. The incubation program will accelerate our path from MVP to market.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840480" cy="1234440"/>
          </a:xfrm>
          <a:prstGeom prst="rect">
            <a:avLst/>
          </a:prstGeom>
          <a:solidFill>
            <a:srgbClr val="142A45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1945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860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148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&amp; Network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24688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AA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healthcare industry mentors, hospital CIOs, and clinical champions who can open doors for pilot programs and early adoption.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2011680"/>
            <a:ext cx="3840480" cy="1234440"/>
          </a:xfrm>
          <a:prstGeom prst="rect">
            <a:avLst/>
          </a:prstGeom>
          <a:solidFill>
            <a:srgbClr val="142A45"/>
          </a:solidFill>
          <a:ln/>
        </p:spPr>
      </p:sp>
      <p:sp>
        <p:nvSpPr>
          <p:cNvPr id="12" name="Shape 9"/>
          <p:cNvSpPr/>
          <p:nvPr/>
        </p:nvSpPr>
        <p:spPr>
          <a:xfrm>
            <a:off x="4937760" y="21945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860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2148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&amp; Resources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532120" y="24688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AA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capital to fund cloud infrastructure, ASR/LLM API costs during pilot phase, and initial go-to-market activities in target markets.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3429000"/>
            <a:ext cx="3840480" cy="1234440"/>
          </a:xfrm>
          <a:prstGeom prst="rect">
            <a:avLst/>
          </a:prstGeom>
          <a:solidFill>
            <a:srgbClr val="142A45"/>
          </a:solidFill>
          <a:ln/>
        </p:spPr>
      </p:sp>
      <p:sp>
        <p:nvSpPr>
          <p:cNvPr id="17" name="Shape 13"/>
          <p:cNvSpPr/>
          <p:nvPr/>
        </p:nvSpPr>
        <p:spPr>
          <a:xfrm>
            <a:off x="822960" y="36118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033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566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Introductions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417320" y="38862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AA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introductions to private hospital groups, mental health clinics, and multi-specialty practices in the GCC, Europe, and US.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754880" y="3429000"/>
            <a:ext cx="3840480" cy="1234440"/>
          </a:xfrm>
          <a:prstGeom prst="rect">
            <a:avLst/>
          </a:prstGeom>
          <a:solidFill>
            <a:srgbClr val="142A45"/>
          </a:solidFill>
          <a:ln/>
        </p:spPr>
      </p:sp>
      <p:sp>
        <p:nvSpPr>
          <p:cNvPr id="22" name="Shape 17"/>
          <p:cNvSpPr/>
          <p:nvPr/>
        </p:nvSpPr>
        <p:spPr>
          <a:xfrm>
            <a:off x="4937760" y="36118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7033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32120" y="3566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532120" y="38862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AA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on enterprise sales cycles in healthcare, regulatory navigation (HIPAA/GDPR/NESA), and pricing optimization.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54864"/>
            <a:ext cx="2560320" cy="5088636"/>
          </a:xfrm>
          <a:prstGeom prst="rect">
            <a:avLst/>
          </a:prstGeom>
          <a:solidFill>
            <a:srgbClr val="028090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8229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96926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868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MedScribe AI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of clinical documentation is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multilingual, intelligent, and real-time.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AA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MedScribe AI saves clinicians 2 hours per day, covers the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AA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patient journey, and addresses a $27B+ market that no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AA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fully serves. The workforce is shrinking.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AA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rising. We are the only lever.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diana@medscribe.ai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Pirjol, MBA, MSc — Founder &amp; CEO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13716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7315200" y="3200400"/>
            <a:ext cx="10972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0" y="3474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2026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MedScribe AI — Incubation Program Application</dc:title>
  <dc:subject>PptxGenJS Presentation</dc:subject>
  <dc:creator>Diana Pirjol</dc:creator>
  <cp:lastModifiedBy>Diana Pirjol</cp:lastModifiedBy>
  <cp:revision>1</cp:revision>
  <dcterms:created xsi:type="dcterms:W3CDTF">2026-02-27T19:38:33Z</dcterms:created>
  <dcterms:modified xsi:type="dcterms:W3CDTF">2026-02-27T19:38:33Z</dcterms:modified>
</cp:coreProperties>
</file>