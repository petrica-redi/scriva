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7" r:id="rId10"/>
    <p:sldId id="278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73" r:id="rId21"/>
    <p:sldId id="274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10"/>
    <p:restoredTop sz="94610"/>
  </p:normalViewPr>
  <p:slideViewPr>
    <p:cSldViewPr snapToGrid="0" snapToObjects="1">
      <p:cViewPr>
        <p:scale>
          <a:sx n="191" d="100"/>
          <a:sy n="191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71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Relationship Id="rId1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486" y="-25200"/>
            <a:ext cx="9238486" cy="5193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463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DOCUMENTATION  ·  DIAGNOSTIC ACCURACY  ·  CLAIMS PROTECTION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97280" y="1920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Levio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Patients. We Handle the Rest.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0" y="3474720"/>
            <a:ext cx="182880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5"/>
          <p:cNvSpPr/>
          <p:nvPr/>
        </p:nvSpPr>
        <p:spPr>
          <a:xfrm>
            <a:off x="1371600" y="35890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STATION·  2026</a:t>
            </a:r>
            <a:endParaRPr lang="en-US" sz="1100" b="1" dirty="0">
              <a:solidFill>
                <a:srgbClr val="FFC000"/>
              </a:solidFill>
            </a:endParaRPr>
          </a:p>
        </p:txBody>
      </p:sp>
      <p:sp>
        <p:nvSpPr>
          <p:cNvPr id="21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Shape 17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Shape 19"/>
          <p:cNvSpPr/>
          <p:nvPr/>
        </p:nvSpPr>
        <p:spPr>
          <a:xfrm>
            <a:off x="520944" y="1005840"/>
            <a:ext cx="0" cy="0"/>
          </a:xfrm>
          <a:prstGeom prst="line">
            <a:avLst/>
          </a:prstGeom>
          <a:noFill/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" name="Text 26"/>
          <p:cNvSpPr/>
          <p:nvPr/>
        </p:nvSpPr>
        <p:spPr>
          <a:xfrm>
            <a:off x="1161024" y="561213"/>
            <a:ext cx="8412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Physicians lose </a:t>
            </a:r>
            <a:r>
              <a:rPr lang="en-US" sz="2800" i="1" dirty="0">
                <a:solidFill>
                  <a:srgbClr val="4ECDC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billions</a:t>
            </a:r>
            <a:r>
              <a:rPr lang="en-US" sz="28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to wrong codes.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We make that impossible</a:t>
            </a:r>
            <a:r>
              <a:rPr lang="en-US" sz="36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.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1315929" y="208254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enforces diagnostic protocols and insurance billing criteria in real time — reducing claim denials,</a:t>
            </a:r>
            <a:endParaRPr lang="en-US" sz="10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protecting physician revenue and giving doctors back the hours that paperwork stole.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0089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" name="Text 29"/>
          <p:cNvSpPr/>
          <p:nvPr/>
        </p:nvSpPr>
        <p:spPr>
          <a:xfrm>
            <a:off x="255768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$125B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55768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US physician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lost to billing errors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522937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" name="Text 32"/>
          <p:cNvSpPr/>
          <p:nvPr/>
        </p:nvSpPr>
        <p:spPr>
          <a:xfrm>
            <a:off x="2468616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86%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468616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 denials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 preventable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735785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" name="Text 35"/>
          <p:cNvSpPr/>
          <p:nvPr/>
        </p:nvSpPr>
        <p:spPr>
          <a:xfrm>
            <a:off x="4681464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5–10%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81464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Romanian CASA invoices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rejected per Traian, psychiatrist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948633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" name="Text 38"/>
          <p:cNvSpPr/>
          <p:nvPr/>
        </p:nvSpPr>
        <p:spPr>
          <a:xfrm>
            <a:off x="6894312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€1M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94312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F/ai revenue target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within 6 months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10089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" name="Text 41"/>
          <p:cNvSpPr/>
          <p:nvPr/>
        </p:nvSpPr>
        <p:spPr>
          <a:xfrm>
            <a:off x="310089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 United States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029161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5" name="Text 43"/>
          <p:cNvSpPr/>
          <p:nvPr/>
        </p:nvSpPr>
        <p:spPr>
          <a:xfrm>
            <a:off x="2029161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 United Kingdom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748233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7" name="Text 45"/>
          <p:cNvSpPr/>
          <p:nvPr/>
        </p:nvSpPr>
        <p:spPr>
          <a:xfrm>
            <a:off x="3748233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 France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467305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9" name="Text 47"/>
          <p:cNvSpPr/>
          <p:nvPr/>
        </p:nvSpPr>
        <p:spPr>
          <a:xfrm>
            <a:off x="5467305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Germany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186377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1" name="Text 49"/>
          <p:cNvSpPr/>
          <p:nvPr/>
        </p:nvSpPr>
        <p:spPr>
          <a:xfrm>
            <a:off x="7186377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 Romania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Documentation waste is visible.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errors are invisible. Both cost a fortune.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Physicians lose hours to paperwork — and they lose revenue to the wrong codes, wrong criteria, and missing documentation.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Traian (psychiatrist, Romania): "If you make one error in a prescription, you pay for the entire prescription. Every error in a sick note = €5,000 fine."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3840480" cy="283464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BURDEN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24871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workday lost to documentation (AMA/Dartmouth)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hrs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30540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day recoverable per physician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6210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8+ hrs/wk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6210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"pajama time" completing notes after hours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1879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4187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consultation time spent staring at a screen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057400"/>
            <a:ext cx="3840480" cy="283464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507492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&amp; BILLING ERRORS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74920" y="24871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$125B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2487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lost annually by US physicians from coding errors (AAPC/AHLA industry estimates · Change Healthcare Revenue Cycle Index)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4920" y="30540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30540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claim denials are preventable — wrong codes, missing criteria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36210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36210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medical bills contain at least one coding error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4187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5–10%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83680" y="4187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CNAS </a:t>
            </a: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invoices rejected in Romania (Traian, psychiatrist)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"There are 15,000 free transcription tools. The selling point is diagnostic accuracy — if it gets the diagnosis right, treatment will be right too." — Traian, psychiatrist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ACCURACY CRISIS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Wrong diagnosis = wrong treatment = denied claim.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Time criteria: the most violated — and most expensive — errors.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C9A96E">
              <a:alpha val="15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Transcript — Traian, Senior Psychiatrist, Romania · 5 March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31920" y="1371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"For GAD you need 6 months. If you say 1 month, you don't meet the criteria — the diagnostic is wrong, the billing code is wrong, the claim is denied."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7472" y="1993392"/>
            <a:ext cx="2697480" cy="2880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E07A5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9" name="Shape 7"/>
          <p:cNvSpPr/>
          <p:nvPr/>
        </p:nvSpPr>
        <p:spPr>
          <a:xfrm>
            <a:off x="347472" y="1993392"/>
            <a:ext cx="26974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438912" y="20665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Criteria Failures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GAD requires 6 months of anxiety — AI flagged 1-month case as GAD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Major depression: symptoms must persist daily for 2+ weeks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Schizophrenia: hallucinations must persist 6+ months outside affective episodes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 psychotic episode ≠ schizophrenia if &lt;6 months — separate billing code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Panic disorder: criteria require recurrent episodes + persistent concern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993392"/>
            <a:ext cx="2697480" cy="2880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4ECD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Shape 11"/>
          <p:cNvSpPr/>
          <p:nvPr/>
        </p:nvSpPr>
        <p:spPr>
          <a:xfrm>
            <a:off x="3200400" y="1993392"/>
            <a:ext cx="269748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Text 12"/>
          <p:cNvSpPr/>
          <p:nvPr/>
        </p:nvSpPr>
        <p:spPr>
          <a:xfrm>
            <a:off x="3291840" y="20665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Severity &amp; DSM/ICD Criteria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0128" y="2468880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GAD: requires ≥3 somatic + ≥3 psychological symptoms — AI missed this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 vs ICD-11 used differently per country — Romania on ICD-10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F41.3 (mixed anxiety) ≠ F41.1 (GAD) — wrong code = claim rejection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Traian: "I'd go with F41.3 mixed anxiety disorder, not GAD — the time criterion wasn't met"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 / CANMAT guidelines ignored by generic AI systems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53328" y="1993392"/>
            <a:ext cx="2697480" cy="2880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81B2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Shape 15"/>
          <p:cNvSpPr/>
          <p:nvPr/>
        </p:nvSpPr>
        <p:spPr>
          <a:xfrm>
            <a:off x="6053328" y="1993392"/>
            <a:ext cx="2697480" cy="5486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Text 16"/>
          <p:cNvSpPr/>
          <p:nvPr/>
        </p:nvSpPr>
        <p:spPr>
          <a:xfrm>
            <a:off x="6144768" y="20665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Protocol &amp; Prescription Errors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63056" y="2468880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Gabapentin: only prescribable on 2 codes, List A only (Romania COCA norms)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SSRIs for panic disorder in women ≠ GAD treatment — different drug class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CANMAT/Maudsley guidelines: structured by evidence level per diagnosis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Prescribing outside protocol = claim rejected + full prescription repayment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"We need filters on therapeutic protocols" — Traian, re: prescription validation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CRISIS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France: our primary market. The others are expansion.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4297680" cy="4069080"/>
          </a:xfrm>
          <a:prstGeom prst="rect">
            <a:avLst/>
          </a:prstGeom>
          <a:solidFill>
            <a:srgbClr val="F5F3F0"/>
          </a:solidFill>
          <a:ln w="19050">
            <a:solidFill>
              <a:srgbClr val="1971C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4297680" cy="566928"/>
          </a:xfrm>
          <a:prstGeom prst="rect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384048" cy="38404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987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128016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3200400" y="987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MARKET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" y="12618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· CCAM · CNAM · Carte Vitale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1572768"/>
            <a:ext cx="1280160" cy="658368"/>
          </a:xfrm>
          <a:prstGeom prst="rect">
            <a:avLst/>
          </a:prstGeom>
          <a:solidFill>
            <a:srgbClr val="1971C2">
              <a:alpha val="10000"/>
            </a:srgbClr>
          </a:solidFill>
          <a:ln w="12700">
            <a:solidFill>
              <a:srgbClr val="1971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Text 12"/>
          <p:cNvSpPr/>
          <p:nvPr/>
        </p:nvSpPr>
        <p:spPr>
          <a:xfrm>
            <a:off x="457200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 Audit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9019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CCAM code unjustified → instant audit trigger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847088" y="1572768"/>
            <a:ext cx="1280160" cy="658368"/>
          </a:xfrm>
          <a:prstGeom prst="rect">
            <a:avLst/>
          </a:prstGeom>
          <a:solidFill>
            <a:srgbClr val="1971C2">
              <a:alpha val="10000"/>
            </a:srgbClr>
          </a:solidFill>
          <a:ln w="12700">
            <a:solidFill>
              <a:srgbClr val="1971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1847088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Law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47088" y="19019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 Modernization Act mandates certified billing software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236976" y="1572768"/>
            <a:ext cx="1280160" cy="658368"/>
          </a:xfrm>
          <a:prstGeom prst="rect">
            <a:avLst/>
          </a:prstGeom>
          <a:solidFill>
            <a:srgbClr val="1971C2">
              <a:alpha val="10000"/>
            </a:srgbClr>
          </a:solidFill>
          <a:ln w="12700">
            <a:solidFill>
              <a:srgbClr val="1971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Text 18"/>
          <p:cNvSpPr/>
          <p:nvPr/>
        </p:nvSpPr>
        <p:spPr>
          <a:xfrm>
            <a:off x="3236976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36976" y="19019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Home market — CNAM &amp; hospital groups accessible from campus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93776" y="2414016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Text 21"/>
          <p:cNvSpPr/>
          <p:nvPr/>
        </p:nvSpPr>
        <p:spPr>
          <a:xfrm>
            <a:off x="621792" y="2377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compliance window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French Health Modernization Act (2023) requires certified billing software for all private clinics — this is an access mandate, not a nice-to-have.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3776" y="2999232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Text 24"/>
          <p:cNvSpPr/>
          <p:nvPr/>
        </p:nvSpPr>
        <p:spPr>
          <a:xfrm>
            <a:off x="621792" y="29626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CCAM miscoding = CNAM audit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" y="31455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clinical act code unsupported by documentation triggers an automatic CNAM audit. No warning, no grace period. One error = full review.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3776" y="3584448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Text 27"/>
          <p:cNvSpPr/>
          <p:nvPr/>
        </p:nvSpPr>
        <p:spPr>
          <a:xfrm>
            <a:off x="621792" y="354787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Vitale integration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" y="37307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Claims window 2 years, but front-end coding errors cause instant rejection before the Carte Vitale window even opens.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3776" y="4169664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Text 30"/>
          <p:cNvSpPr/>
          <p:nvPr/>
        </p:nvSpPr>
        <p:spPr>
          <a:xfrm>
            <a:off x="621792" y="41330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go-to-market anchor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" y="4315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private clinics × €70/mo = €3.5K MRR by Month 2. Station F gives direct access to CNAM contacts and French hospital group leadership.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8032" y="9144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MARKETS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28032" y="1188720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Shape 34"/>
          <p:cNvSpPr/>
          <p:nvPr/>
        </p:nvSpPr>
        <p:spPr>
          <a:xfrm>
            <a:off x="4828032" y="1188720"/>
            <a:ext cx="54864" cy="804672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Shape 35"/>
          <p:cNvSpPr/>
          <p:nvPr/>
        </p:nvSpPr>
        <p:spPr>
          <a:xfrm>
            <a:off x="4919472" y="1280160"/>
            <a:ext cx="329184" cy="329184"/>
          </a:xfrm>
          <a:prstGeom prst="ellipse">
            <a:avLst/>
          </a:prstGeom>
          <a:solidFill>
            <a:srgbClr val="C92A2A">
              <a:alpha val="20000"/>
            </a:srgbClr>
          </a:solidFill>
          <a:ln w="12700">
            <a:solidFill>
              <a:srgbClr val="C92A2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8" name="Text 36"/>
          <p:cNvSpPr/>
          <p:nvPr/>
        </p:nvSpPr>
        <p:spPr>
          <a:xfrm>
            <a:off x="4919472" y="1280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5232" y="1280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85232" y="14630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SNOMED CT · OPCS-4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766560" y="1280160"/>
            <a:ext cx="1920240" cy="256032"/>
          </a:xfrm>
          <a:prstGeom prst="rect">
            <a:avLst/>
          </a:prstGeom>
          <a:solidFill>
            <a:srgbClr val="C92A2A">
              <a:alpha val="12000"/>
            </a:srgbClr>
          </a:solidFill>
          <a:ln w="12700">
            <a:solidFill>
              <a:srgbClr val="C92A2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2" name="Text 40"/>
          <p:cNvSpPr/>
          <p:nvPr/>
        </p:nvSpPr>
        <p:spPr>
          <a:xfrm>
            <a:off x="6766560" y="1280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coding backlog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19472" y="16642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OPCS-4.10 errors reduce PbR tariff. Private sector (AXA, Bupa) = direct billing impact per error.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28032" y="2066544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5" name="Shape 43"/>
          <p:cNvSpPr/>
          <p:nvPr/>
        </p:nvSpPr>
        <p:spPr>
          <a:xfrm>
            <a:off x="4828032" y="2066544"/>
            <a:ext cx="54864" cy="804672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6" name="Shape 44"/>
          <p:cNvSpPr/>
          <p:nvPr/>
        </p:nvSpPr>
        <p:spPr>
          <a:xfrm>
            <a:off x="4919472" y="2157984"/>
            <a:ext cx="329184" cy="329184"/>
          </a:xfrm>
          <a:prstGeom prst="ellipse">
            <a:avLst/>
          </a:prstGeom>
          <a:solidFill>
            <a:srgbClr val="2B8A3E">
              <a:alpha val="20000"/>
            </a:srgbClr>
          </a:solidFill>
          <a:ln w="12700">
            <a:solidFill>
              <a:srgbClr val="2B8A3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7" name="Text 45"/>
          <p:cNvSpPr/>
          <p:nvPr/>
        </p:nvSpPr>
        <p:spPr>
          <a:xfrm>
            <a:off x="4919472" y="2157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85232" y="21579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85232" y="234086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ICD-10-GM · OPS · GKV/PKV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6766560" y="2157984"/>
            <a:ext cx="1920240" cy="256032"/>
          </a:xfrm>
          <a:prstGeom prst="rect">
            <a:avLst/>
          </a:prstGeom>
          <a:solidFill>
            <a:srgbClr val="2B8A3E">
              <a:alpha val="12000"/>
            </a:srgbClr>
          </a:solidFill>
          <a:ln w="12700">
            <a:solidFill>
              <a:srgbClr val="2B8A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1" name="Text 49"/>
          <p:cNvSpPr/>
          <p:nvPr/>
        </p:nvSpPr>
        <p:spPr>
          <a:xfrm>
            <a:off x="6766560" y="21579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&gt;20% OPS rejection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19472" y="25420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Dual GKV/PKV system — different documentation logic per patient. Quarterly billing or claims forfeit.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828032" y="2944368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4" name="Shape 52"/>
          <p:cNvSpPr/>
          <p:nvPr/>
        </p:nvSpPr>
        <p:spPr>
          <a:xfrm>
            <a:off x="4828032" y="2944368"/>
            <a:ext cx="54864" cy="804672"/>
          </a:xfrm>
          <a:prstGeom prst="rect">
            <a:avLst/>
          </a:prstGeom>
          <a:solidFill>
            <a:srgbClr val="862E9C"/>
          </a:solidFill>
          <a:ln w="12700">
            <a:solidFill>
              <a:srgbClr val="862E9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5" name="Shape 53"/>
          <p:cNvSpPr/>
          <p:nvPr/>
        </p:nvSpPr>
        <p:spPr>
          <a:xfrm>
            <a:off x="4919472" y="3035808"/>
            <a:ext cx="329184" cy="329184"/>
          </a:xfrm>
          <a:prstGeom prst="ellipse">
            <a:avLst/>
          </a:prstGeom>
          <a:solidFill>
            <a:srgbClr val="862E9C">
              <a:alpha val="20000"/>
            </a:srgbClr>
          </a:solidFill>
          <a:ln w="12700">
            <a:solidFill>
              <a:srgbClr val="862E9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6" name="Text 54"/>
          <p:cNvSpPr/>
          <p:nvPr/>
        </p:nvSpPr>
        <p:spPr>
          <a:xfrm>
            <a:off x="4919472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62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285232" y="30358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Romania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285232" y="32186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 · COCA · SIUI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6766560" y="3035808"/>
            <a:ext cx="1920240" cy="256032"/>
          </a:xfrm>
          <a:prstGeom prst="rect">
            <a:avLst/>
          </a:prstGeom>
          <a:solidFill>
            <a:srgbClr val="862E9C">
              <a:alpha val="12000"/>
            </a:srgbClr>
          </a:solidFill>
          <a:ln w="12700">
            <a:solidFill>
              <a:srgbClr val="862E9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0" name="Text 58"/>
          <p:cNvSpPr/>
          <p:nvPr/>
        </p:nvSpPr>
        <p:spPr>
          <a:xfrm>
            <a:off x="6766560" y="30358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62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 CASA rejection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19472" y="3419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"One prescription error = repay entire prescription." — Traian. €5K fine per sick note error.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828032" y="3822192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3" name="Shape 61"/>
          <p:cNvSpPr/>
          <p:nvPr/>
        </p:nvSpPr>
        <p:spPr>
          <a:xfrm>
            <a:off x="4828032" y="3822192"/>
            <a:ext cx="54864" cy="8046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4" name="Shape 62"/>
          <p:cNvSpPr/>
          <p:nvPr/>
        </p:nvSpPr>
        <p:spPr>
          <a:xfrm>
            <a:off x="4919472" y="3913632"/>
            <a:ext cx="329184" cy="329184"/>
          </a:xfrm>
          <a:prstGeom prst="ellipse">
            <a:avLst/>
          </a:prstGeom>
          <a:solidFill>
            <a:srgbClr val="3B5BDB">
              <a:alpha val="20000"/>
            </a:srgbClr>
          </a:solidFill>
          <a:ln w="12700">
            <a:solidFill>
              <a:srgbClr val="3B5BD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5" name="Text 63"/>
          <p:cNvSpPr/>
          <p:nvPr/>
        </p:nvSpPr>
        <p:spPr>
          <a:xfrm>
            <a:off x="4919472" y="3913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85232" y="39136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285232" y="40965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ICD-10-CM · CPT · CMS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6766560" y="3913632"/>
            <a:ext cx="1920240" cy="256032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9" name="Text 67"/>
          <p:cNvSpPr/>
          <p:nvPr/>
        </p:nvSpPr>
        <p:spPr>
          <a:xfrm>
            <a:off x="6766560" y="3913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$125B/yr losses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919472" y="42976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Medicare Advantage: 15.7% initial denials, 57% overturned on appeal. 487 new codes in FY2026.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intervention points. One platform. Every market.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operates at the three critical moments where documentation errors become denied claims — enforcing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right protocol, in the right language, for the right insurance system.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2697480" cy="320040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4ECDC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91440" cy="32004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530352" y="17922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Criteria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Enforcement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7432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any code is assigned, Levio validates that documented evidence meets the diagnostic criteria — time thresholds, severity markers, differential exclusions. GAD requires 6 months. Major depression requires 2 weeks. Levio checks both.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2" name="Shape 10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Shape 11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Shape 12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Shape 13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6" name="Text 14"/>
          <p:cNvSpPr/>
          <p:nvPr/>
        </p:nvSpPr>
        <p:spPr>
          <a:xfrm>
            <a:off x="530352" y="4041648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ICD-10-CM (US)  ·  SNOMED CT (UK)  ·  ICD-10 + CCAM (FR)  ·  ICD-10-GM (DE)  ·  ICD-10 + COCA (RO)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18688" y="1719072"/>
            <a:ext cx="2697480" cy="320040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C9A96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Shape 16"/>
          <p:cNvSpPr/>
          <p:nvPr/>
        </p:nvSpPr>
        <p:spPr>
          <a:xfrm>
            <a:off x="3218688" y="1719072"/>
            <a:ext cx="91440" cy="32004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3383280" y="17922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Procedure Code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27432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cross-validates procedure codes against documented clinical justification. Germany's OPS codes — &gt;20% rejection rate — are validated before submission. OPCS-4 (UK), CCAM (France), COCA protocols (Romania): same logic, market-specific rules.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Shape 21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Shape 22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5" name="Shape 23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Shape 24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3383280" y="4041648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/ ICD-10-PCS (US)  ·  OPCS-4.10 (UK)  ·  CCAM / NGAP (FR)  ·  OPS (DE)  ·  SIUI / CNAS (RO)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71616" y="1719072"/>
            <a:ext cx="2697480" cy="320040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E07A5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Shape 27"/>
          <p:cNvSpPr/>
          <p:nvPr/>
        </p:nvSpPr>
        <p:spPr>
          <a:xfrm>
            <a:off x="6071616" y="1719072"/>
            <a:ext cx="91440" cy="32004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6236208" y="17922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Billing-Ready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36208" y="27432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generates insurance-ready notes satisfying payer requirements per market — Medicare in the US, NHS PbR in the UK, CNAM in France, GKV/PKV in Germany, CASA/CNAS in Romania. Audit trail included. Prescription protocol compliance enforced.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4" name="Shape 32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5" name="Shape 33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Shape 34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Shape 35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8" name="Text 36"/>
          <p:cNvSpPr/>
          <p:nvPr/>
        </p:nvSpPr>
        <p:spPr>
          <a:xfrm>
            <a:off x="6236208" y="4041648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/ Medicaid  ·  NHS + AXA/Bupa  ·  CNAM / Carte Vitale  ·  GKV + PKV (GOÄ)  ·  CNAS + CASA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COVERAGE MATRIX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Levio enforces — by market, by layer.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0" y="475488"/>
            <a:ext cx="146304" cy="14630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6322940" y="4572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(MVP)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178040" y="475488"/>
            <a:ext cx="146304" cy="14630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7269480" y="475488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(Q2 2026)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8138160" y="475488"/>
            <a:ext cx="146304" cy="146304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8229600" y="46634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(Q3 2026+)</a:t>
            </a:r>
            <a:endParaRPr lang="en-US" sz="6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748620"/>
              </p:ext>
            </p:extLst>
          </p:nvPr>
        </p:nvGraphicFramePr>
        <p:xfrm>
          <a:off x="347472" y="877824"/>
          <a:ext cx="8439912" cy="4069080"/>
        </p:xfrm>
        <a:graphic>
          <a:graphicData uri="http://schemas.openxmlformats.org/drawingml/2006/table">
            <a:tbl>
              <a:tblPr/>
              <a:tblGrid>
                <a:gridCol w="153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Layer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France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 Romania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2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United Kingdom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Germany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United States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Notes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FR/multilingual ASR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RO language + SIUI-ready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EN + multilingual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 language support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EN / telehealth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 + CCAM mapping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 + COCA norms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SNOMED CT + ICD-10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ICD-10-GM validation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ICD-10-CM + CPT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Criteria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DSM-5 / ICD-10 time + severity criteria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Validated with psychiatrists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NICE / Maudsley criteria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S3 Guidelines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DSM-5 / CANMAT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Billing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CNAM / Carte Vitale integration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COCA + SIUI / CNAS integration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OPCS-4 / PbR tariff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OPS / GKV/PKV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2027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CPT / prior auth / CMS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Denial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CCAM not justified by clinical note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Outside COCA protocol; sick note error (€5K fine)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OPCS-4 error reduces PbR tariff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ICD-10-GM qualifier missing; OPS &gt;20% rejection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Prior auth missing; code specificity insufficient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intelligent layers. All running simultaneously.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621792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Transcription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19933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Deepgram Nova-3 Medical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2395728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658368" y="23957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3.45% WER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" y="2871216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Text 11"/>
          <p:cNvSpPr/>
          <p:nvPr/>
        </p:nvSpPr>
        <p:spPr>
          <a:xfrm>
            <a:off x="658368" y="287121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Multilingual streaming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3346704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Text 13"/>
          <p:cNvSpPr/>
          <p:nvPr/>
        </p:nvSpPr>
        <p:spPr>
          <a:xfrm>
            <a:off x="658368" y="334670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Speaker diarization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" y="3822192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658368" y="382219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&lt;500ms latency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10128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9" name="Shape 17"/>
          <p:cNvSpPr/>
          <p:nvPr/>
        </p:nvSpPr>
        <p:spPr>
          <a:xfrm>
            <a:off x="3310128" y="1097280"/>
            <a:ext cx="265176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Text 18"/>
          <p:cNvSpPr/>
          <p:nvPr/>
        </p:nvSpPr>
        <p:spPr>
          <a:xfrm>
            <a:off x="3474720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4720" y="1481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Translation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74720" y="19933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Google Cloud / Azure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2395728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Text 22"/>
          <p:cNvSpPr/>
          <p:nvPr/>
        </p:nvSpPr>
        <p:spPr>
          <a:xfrm>
            <a:off x="3511296" y="23957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Medical glossaries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2871216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Text 24"/>
          <p:cNvSpPr/>
          <p:nvPr/>
        </p:nvSpPr>
        <p:spPr>
          <a:xfrm>
            <a:off x="3511296" y="287121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Real-time overlay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3346704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" name="Text 26"/>
          <p:cNvSpPr/>
          <p:nvPr/>
        </p:nvSpPr>
        <p:spPr>
          <a:xfrm>
            <a:off x="3511296" y="334670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&lt;500ms latency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3822192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3511296" y="382219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Full RTL support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63056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32" name="Shape 30"/>
          <p:cNvSpPr/>
          <p:nvPr/>
        </p:nvSpPr>
        <p:spPr>
          <a:xfrm>
            <a:off x="6163056" y="1097280"/>
            <a:ext cx="2651760" cy="7315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6327648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327648" y="1481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Clinical Copilot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327648" y="19933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Anthropic Claude / GPT-4o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27648" y="2395728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Text 35"/>
          <p:cNvSpPr/>
          <p:nvPr/>
        </p:nvSpPr>
        <p:spPr>
          <a:xfrm>
            <a:off x="6364224" y="23957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Live differential Dx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27648" y="2871216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6364224" y="287121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Diagnostic criteria validation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27648" y="3346704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1" name="Text 39"/>
          <p:cNvSpPr/>
          <p:nvPr/>
        </p:nvSpPr>
        <p:spPr>
          <a:xfrm>
            <a:off x="6364224" y="334670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Protocol compliance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27648" y="3822192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3" name="Text 41"/>
          <p:cNvSpPr/>
          <p:nvPr/>
        </p:nvSpPr>
        <p:spPr>
          <a:xfrm>
            <a:off x="6364224" y="382219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Safety alerts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5" name="Text 43"/>
          <p:cNvSpPr/>
          <p:nvPr/>
        </p:nvSpPr>
        <p:spPr>
          <a:xfrm>
            <a:off x="594360" y="46177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adds a 4th layer competitors lack: Protocol &amp; Criteria Validation — enforcing DSM-5/ICD-10 time criteria, COCA norms, CANMAT/Maudsley treatment protocols before any code is assigned or any claim is submitted.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and Working Today</a:t>
            </a:r>
            <a:endParaRPr lang="en-US" sz="2400" dirty="0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74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COPILOT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Thinks During the Consultation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safety alerts, drug interactions, and differential diagnoses — even in complex mental health cases.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821895" cy="3063240"/>
          </a:xfrm>
          <a:prstGeom prst="rect">
            <a:avLst/>
          </a:prstGeom>
          <a:solidFill>
            <a:srgbClr val="16223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88720"/>
            <a:ext cx="2495643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143000"/>
            <a:ext cx="4206240" cy="3063240"/>
          </a:xfrm>
          <a:prstGeom prst="rect">
            <a:avLst/>
          </a:prstGeom>
          <a:solidFill>
            <a:srgbClr val="16223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188720"/>
            <a:ext cx="2284513" cy="297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4279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Alerts &amp; Differential Dx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4320" y="4507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flags, drug interactions (serotonin syndrome), and ranked diagnoses with ICD codes — surfaced live.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663440" y="4279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Questions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63440" y="4507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clinical questions with reasoning — nothing missed, even in complex mental health cases.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COPILOT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AI thinks during the consultation — not after.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criteria enforced in real time, not discovered at claim submission.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754880" cy="356616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4ECD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CONSULTATION — AI COPILOT OUTPUT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4480560" cy="640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Patient: "I've been anxious for about a month, having trouble sleeping.."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Patient: "My mother had depression after grandma died, but overall no [family history]."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359152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E07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Shape 9"/>
          <p:cNvSpPr/>
          <p:nvPr/>
        </p:nvSpPr>
        <p:spPr>
          <a:xfrm>
            <a:off x="502920" y="2359152"/>
            <a:ext cx="73152" cy="4937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CRITERIA ALERT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GAD (F41.1) requires ≥6 months. Only 1 month reported — criterion NOT met.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4ECD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73152" cy="4937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6" name="Text 14"/>
          <p:cNvSpPr/>
          <p:nvPr/>
        </p:nvSpPr>
        <p:spPr>
          <a:xfrm>
            <a:off x="640080" y="29443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SUGGESTED CODE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40080" y="31272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F41.3 Mixed anxiety and depressive disorder — better fit for current symptom duration.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3493008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9A9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Shape 17"/>
          <p:cNvSpPr/>
          <p:nvPr/>
        </p:nvSpPr>
        <p:spPr>
          <a:xfrm>
            <a:off x="502920" y="3493008"/>
            <a:ext cx="73152" cy="4937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Text 18"/>
          <p:cNvSpPr/>
          <p:nvPr/>
        </p:nvSpPr>
        <p:spPr>
          <a:xfrm>
            <a:off x="640080" y="351129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MISSING CRITERIA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40080" y="369417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Confirm: muscle tension, irritability, restlessness, excessive fatigue — 3 somatic + 3 psychological required.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4059936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81B29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Shape 21"/>
          <p:cNvSpPr/>
          <p:nvPr/>
        </p:nvSpPr>
        <p:spPr>
          <a:xfrm>
            <a:off x="502920" y="4059936"/>
            <a:ext cx="73152" cy="493776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Text 22"/>
          <p:cNvSpPr/>
          <p:nvPr/>
        </p:nvSpPr>
        <p:spPr>
          <a:xfrm>
            <a:off x="640080" y="407822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FOLLOW-UP Qs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40080" y="42611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 TSH, B1, B6, B12 to exclude organic causes. Caffeine intake? Sleep architecture?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94960" y="1280160"/>
            <a:ext cx="3383280" cy="10241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5532120" y="133502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[Aim]  Criteria-Aware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16459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knows that GAD = 6 months, that depression requires 2-week daily symptoms, that first psychosis ≠ schizophrenia. Generic AI systems do not.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94960" y="2468880"/>
            <a:ext cx="3383280" cy="10241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5532120" y="252374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[Chart]  Real-time vs Post-hoc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28346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Competitors analyze after the consultation. Levio delivers evolving insights while the patient is still in the room — errors caught before they become claims.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94960" y="3657600"/>
            <a:ext cx="3383280" cy="10241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5532120" y="371246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[Lock]  Protocol Compliance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32120" y="40233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 validation against COCA (Romania), NICE/Maudsley (UK), CANMAT (Canada/EU). Wrong prescription = full repayment. Levio prevents this.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$27B+ Global Market by 2033 — No dominant player outside the US.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8620" y="1133494"/>
            <a:ext cx="1920240" cy="1920240"/>
          </a:xfrm>
          <a:prstGeom prst="ellipse">
            <a:avLst/>
          </a:prstGeom>
          <a:solidFill>
            <a:srgbClr val="1B3A4B">
              <a:alpha val="85000"/>
            </a:srgbClr>
          </a:solidFill>
          <a:ln w="25400">
            <a:solidFill>
              <a:srgbClr val="1B3A4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388620" y="1325518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70" dirty="0"/>
          </a:p>
        </p:txBody>
      </p:sp>
      <p:sp>
        <p:nvSpPr>
          <p:cNvPr id="7" name="Text 5"/>
          <p:cNvSpPr/>
          <p:nvPr/>
        </p:nvSpPr>
        <p:spPr>
          <a:xfrm>
            <a:off x="388620" y="1767173"/>
            <a:ext cx="1920240" cy="537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$27B+</a:t>
            </a:r>
            <a:endParaRPr lang="en-US" sz="1890" dirty="0"/>
          </a:p>
        </p:txBody>
      </p:sp>
      <p:sp>
        <p:nvSpPr>
          <p:cNvPr id="8" name="Text 6"/>
          <p:cNvSpPr/>
          <p:nvPr/>
        </p:nvSpPr>
        <p:spPr>
          <a:xfrm>
            <a:off x="-68580" y="314517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AI clinical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documentation by 2033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(28.4% CAGR)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91740" y="1384954"/>
            <a:ext cx="1417320" cy="1417320"/>
          </a:xfrm>
          <a:prstGeom prst="ellipse">
            <a:avLst/>
          </a:prstGeom>
          <a:solidFill>
            <a:srgbClr val="5A7D8C">
              <a:alpha val="85000"/>
            </a:srgbClr>
          </a:solidFill>
          <a:ln w="25400">
            <a:solidFill>
              <a:srgbClr val="5A7D8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2491740" y="1526686"/>
            <a:ext cx="1417320" cy="35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85" dirty="0"/>
          </a:p>
        </p:txBody>
      </p:sp>
      <p:sp>
        <p:nvSpPr>
          <p:cNvPr id="11" name="Text 9"/>
          <p:cNvSpPr/>
          <p:nvPr/>
        </p:nvSpPr>
        <p:spPr>
          <a:xfrm>
            <a:off x="2491740" y="1852670"/>
            <a:ext cx="1417320" cy="39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95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$16B+</a:t>
            </a:r>
            <a:endParaRPr lang="en-US" sz="1395" dirty="0"/>
          </a:p>
        </p:txBody>
      </p:sp>
      <p:sp>
        <p:nvSpPr>
          <p:cNvPr id="12" name="Text 10"/>
          <p:cNvSpPr/>
          <p:nvPr/>
        </p:nvSpPr>
        <p:spPr>
          <a:xfrm>
            <a:off x="2034540" y="289371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Outpatient, specialty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mental health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across 5 markets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06240" y="1593437"/>
            <a:ext cx="1005840" cy="1005840"/>
          </a:xfrm>
          <a:prstGeom prst="ellipse">
            <a:avLst/>
          </a:prstGeom>
          <a:solidFill>
            <a:srgbClr val="4ECDC4">
              <a:alpha val="85000"/>
            </a:srgbClr>
          </a:solidFill>
          <a:ln w="25400">
            <a:solidFill>
              <a:srgbClr val="4ECD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Text 12"/>
          <p:cNvSpPr/>
          <p:nvPr/>
        </p:nvSpPr>
        <p:spPr>
          <a:xfrm>
            <a:off x="4206240" y="1694021"/>
            <a:ext cx="10058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4206240" y="1925364"/>
            <a:ext cx="10058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$5–10M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3680234" y="2713577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Private clinics FR/RO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 1–3 realistic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solo founder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987002"/>
              </p:ext>
            </p:extLst>
          </p:nvPr>
        </p:nvGraphicFramePr>
        <p:xfrm>
          <a:off x="5669280" y="1005840"/>
          <a:ext cx="3291840" cy="37947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Driver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(validated)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€1M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FR France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(Priority)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2023 Modernization Act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mandates certified billing software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€70/mo · private clinics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50 clinics · 2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UK United Kingdom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NHS coding backlog; private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AXA/Bupa billing accuracy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£60–80/mo · private sector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60 providers · 3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 Germany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OPS &gt;20% rejection rate;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GKV/PKV dual system burden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€80–100/mo · OPS moat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60 providers · 4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RO Romania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(Traian insights)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CASA 5–10% rejection; COCA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protocol enforcement; SIUI integration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€40–60/mo · CMIs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100 CMIs · 5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US United States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$125B billing losses; prior auth;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Medicare Advantage 11–17% denials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$99–199/mo · specialty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Scale from EU base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Levio wins — where every other tool stops.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4ECD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91440" cy="17373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12064" y="1170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Criteria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Enforcement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170078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only platform that validates ICD-10/DSM time criteria before assigning a code. GAD requires 6 months — Levio checks. Others don't.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C9A9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Shape 9"/>
          <p:cNvSpPr/>
          <p:nvPr/>
        </p:nvSpPr>
        <p:spPr>
          <a:xfrm>
            <a:off x="3200400" y="1078992"/>
            <a:ext cx="91440" cy="1737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2" name="Text 10"/>
          <p:cNvSpPr/>
          <p:nvPr/>
        </p:nvSpPr>
        <p:spPr>
          <a:xfrm>
            <a:off x="3364992" y="1170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Insurance Protocol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64992" y="170078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COCA (Romania), CCAM (France), OPS (Germany), OPCS-4 (UK), CPT (US) — validation rules per market, per payer. Not a generic scribe.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53328" y="107899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E07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6" name="Shape 14"/>
          <p:cNvSpPr/>
          <p:nvPr/>
        </p:nvSpPr>
        <p:spPr>
          <a:xfrm>
            <a:off x="6053328" y="1078992"/>
            <a:ext cx="91440" cy="173736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6217920" y="1170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93408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Real-time — Not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Post-hoc Analysis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170078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thinks during the consultation. Competitors process after. Errors caught at 0 cost, not discovered at claim denial.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299923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81B29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Shape 19"/>
          <p:cNvSpPr/>
          <p:nvPr/>
        </p:nvSpPr>
        <p:spPr>
          <a:xfrm>
            <a:off x="347472" y="2999232"/>
            <a:ext cx="91440" cy="1737360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2" name="Text 20"/>
          <p:cNvSpPr/>
          <p:nvPr/>
        </p:nvSpPr>
        <p:spPr>
          <a:xfrm>
            <a:off x="512064" y="3090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1B2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Full Patient Journey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Ownership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" y="362102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Booking → consultation → referral → billing → continuity. No competitor covers the full cycle across 5 markets simultaneously.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299923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5A7D8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Shape 24"/>
          <p:cNvSpPr/>
          <p:nvPr/>
        </p:nvSpPr>
        <p:spPr>
          <a:xfrm>
            <a:off x="3200400" y="2999232"/>
            <a:ext cx="91440" cy="1737360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3364992" y="3090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7D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40480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Multi-Market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Protocol Engine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64992" y="362102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US/UK/FR/DE/RO from a single platform. Different coding systems, same AI engine — localized to each insurance architecture.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53328" y="299923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C9A9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1" name="Shape 29"/>
          <p:cNvSpPr/>
          <p:nvPr/>
        </p:nvSpPr>
        <p:spPr>
          <a:xfrm>
            <a:off x="6053328" y="2999232"/>
            <a:ext cx="91440" cy="1737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Text 30"/>
          <p:cNvSpPr/>
          <p:nvPr/>
        </p:nvSpPr>
        <p:spPr>
          <a:xfrm>
            <a:off x="6217920" y="3090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93408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European Launchpad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Station F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362102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Paris base → CNAM, hospital groups, GDPR-compliant architecture. F/ai partner network (Anthropic, Microsoft, Mistral) for AI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28032" y="99837"/>
            <a:ext cx="322879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See How Levio Stacks Up</a:t>
            </a:r>
            <a:endParaRPr lang="en-US" sz="2000" dirty="0"/>
          </a:p>
        </p:txBody>
      </p:sp>
      <p:grpSp>
        <p:nvGrpSpPr>
          <p:cNvPr id="588" name="Group 587">
            <a:extLst>
              <a:ext uri="{FF2B5EF4-FFF2-40B4-BE49-F238E27FC236}">
                <a16:creationId xmlns:a16="http://schemas.microsoft.com/office/drawing/2014/main" id="{4025D27C-3D2C-0843-84E6-767B1E194725}"/>
              </a:ext>
            </a:extLst>
          </p:cNvPr>
          <p:cNvGrpSpPr/>
          <p:nvPr/>
        </p:nvGrpSpPr>
        <p:grpSpPr>
          <a:xfrm>
            <a:off x="2488509" y="201168"/>
            <a:ext cx="1713023" cy="182880"/>
            <a:chOff x="5029200" y="475488"/>
            <a:chExt cx="1713023" cy="182880"/>
          </a:xfrm>
        </p:grpSpPr>
        <p:sp>
          <p:nvSpPr>
            <p:cNvPr id="5" name="Shape 3"/>
            <p:cNvSpPr/>
            <p:nvPr/>
          </p:nvSpPr>
          <p:spPr>
            <a:xfrm>
              <a:off x="5029200" y="493776"/>
              <a:ext cx="146304" cy="146304"/>
            </a:xfrm>
            <a:prstGeom prst="ellipse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 4"/>
            <p:cNvSpPr/>
            <p:nvPr/>
          </p:nvSpPr>
          <p:spPr>
            <a:xfrm>
              <a:off x="5212080" y="475488"/>
              <a:ext cx="4572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Yes</a:t>
              </a:r>
              <a:endParaRPr lang="en-US" sz="7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554880" y="566928"/>
              <a:ext cx="146304" cy="0"/>
            </a:xfrm>
            <a:prstGeom prst="line">
              <a:avLst/>
            </a:prstGeom>
            <a:noFill/>
            <a:ln w="25400">
              <a:solidFill>
                <a:srgbClr val="C9A96E"/>
              </a:solidFill>
              <a:prstDash val="solid"/>
            </a:ln>
          </p:spPr>
          <p:txBody>
            <a:bodyPr/>
            <a:lstStyle/>
            <a:p>
              <a:endParaRPr lang="en-RO" sz="1600"/>
            </a:p>
          </p:txBody>
        </p:sp>
        <p:sp>
          <p:nvSpPr>
            <p:cNvPr id="8" name="Text 6"/>
            <p:cNvSpPr/>
            <p:nvPr/>
          </p:nvSpPr>
          <p:spPr>
            <a:xfrm>
              <a:off x="5737760" y="47548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Partial</a:t>
              </a:r>
              <a:endParaRPr lang="en-US" sz="7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175295" y="576072"/>
              <a:ext cx="164592" cy="0"/>
            </a:xfrm>
            <a:prstGeom prst="line">
              <a:avLst/>
            </a:prstGeom>
            <a:noFill/>
            <a:ln w="190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RO" sz="1600"/>
            </a:p>
          </p:txBody>
        </p:sp>
        <p:sp>
          <p:nvSpPr>
            <p:cNvPr id="10" name="Text 8"/>
            <p:cNvSpPr/>
            <p:nvPr/>
          </p:nvSpPr>
          <p:spPr>
            <a:xfrm>
              <a:off x="6376463" y="475488"/>
              <a:ext cx="365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</a:t>
              </a:r>
              <a:endParaRPr lang="en-US" sz="800" b="1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Sources: Heidi (heidihealth.com, Evidence launch Feb 2026), Freed (getfreed.ai, Feb 2026), Nuance DAX / Dragon Copilot (Microsoft, Feb 2026), DeepScribe (deepscribe.ai, KLAS 2025). Nabla (nabla.com, 2026). Levio data from product roadmap.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20040" y="768096"/>
            <a:ext cx="8229600" cy="310896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" name="Text 11"/>
          <p:cNvSpPr/>
          <p:nvPr/>
        </p:nvSpPr>
        <p:spPr>
          <a:xfrm>
            <a:off x="411480" y="76809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20440" y="768096"/>
            <a:ext cx="1005840" cy="3108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" name="Text 13"/>
          <p:cNvSpPr/>
          <p:nvPr/>
        </p:nvSpPr>
        <p:spPr>
          <a:xfrm>
            <a:off x="3520440" y="76809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3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DAX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7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DeepScribe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" y="1078992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" name="Text 19"/>
          <p:cNvSpPr/>
          <p:nvPr/>
        </p:nvSpPr>
        <p:spPr>
          <a:xfrm>
            <a:off x="429768" y="1078992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DOCUMENTATION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320040" y="1220724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" name="Text 21"/>
          <p:cNvSpPr/>
          <p:nvPr/>
        </p:nvSpPr>
        <p:spPr>
          <a:xfrm>
            <a:off x="411480" y="122072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ambient transcription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520440" y="122072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" name="Shape 23"/>
          <p:cNvSpPr/>
          <p:nvPr/>
        </p:nvSpPr>
        <p:spPr>
          <a:xfrm>
            <a:off x="3950208" y="120243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" name="Text 24"/>
          <p:cNvSpPr/>
          <p:nvPr/>
        </p:nvSpPr>
        <p:spPr>
          <a:xfrm>
            <a:off x="3520440" y="122072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" name="Shape 26"/>
          <p:cNvSpPr/>
          <p:nvPr/>
        </p:nvSpPr>
        <p:spPr>
          <a:xfrm>
            <a:off x="49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" name="Text 27"/>
          <p:cNvSpPr/>
          <p:nvPr/>
        </p:nvSpPr>
        <p:spPr>
          <a:xfrm>
            <a:off x="45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3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" name="Shape 29"/>
          <p:cNvSpPr/>
          <p:nvPr/>
        </p:nvSpPr>
        <p:spPr>
          <a:xfrm>
            <a:off x="57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" name="Text 30"/>
          <p:cNvSpPr/>
          <p:nvPr/>
        </p:nvSpPr>
        <p:spPr>
          <a:xfrm>
            <a:off x="53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9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" name="Shape 32"/>
          <p:cNvSpPr/>
          <p:nvPr/>
        </p:nvSpPr>
        <p:spPr>
          <a:xfrm>
            <a:off x="73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" name="Text 33"/>
          <p:cNvSpPr/>
          <p:nvPr/>
        </p:nvSpPr>
        <p:spPr>
          <a:xfrm>
            <a:off x="69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7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" name="Shape 35"/>
          <p:cNvSpPr/>
          <p:nvPr/>
        </p:nvSpPr>
        <p:spPr>
          <a:xfrm>
            <a:off x="81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" name="Text 36"/>
          <p:cNvSpPr/>
          <p:nvPr/>
        </p:nvSpPr>
        <p:spPr>
          <a:xfrm>
            <a:off x="77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0040" y="1330452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" name="Text 38"/>
          <p:cNvSpPr/>
          <p:nvPr/>
        </p:nvSpPr>
        <p:spPr>
          <a:xfrm>
            <a:off x="411480" y="13304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clinical note generation (SOAP, CHEDDAR etc.)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520440" y="13304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" name="Shape 40"/>
          <p:cNvSpPr/>
          <p:nvPr/>
        </p:nvSpPr>
        <p:spPr>
          <a:xfrm>
            <a:off x="3950208" y="13121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" name="Text 41"/>
          <p:cNvSpPr/>
          <p:nvPr/>
        </p:nvSpPr>
        <p:spPr>
          <a:xfrm>
            <a:off x="3520440" y="13304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5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5" name="Shape 43"/>
          <p:cNvSpPr/>
          <p:nvPr/>
        </p:nvSpPr>
        <p:spPr>
          <a:xfrm>
            <a:off x="49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6" name="Text 44"/>
          <p:cNvSpPr/>
          <p:nvPr/>
        </p:nvSpPr>
        <p:spPr>
          <a:xfrm>
            <a:off x="45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3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8" name="Shape 46"/>
          <p:cNvSpPr/>
          <p:nvPr/>
        </p:nvSpPr>
        <p:spPr>
          <a:xfrm>
            <a:off x="57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9" name="Text 47"/>
          <p:cNvSpPr/>
          <p:nvPr/>
        </p:nvSpPr>
        <p:spPr>
          <a:xfrm>
            <a:off x="53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9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1" name="Shape 49"/>
          <p:cNvSpPr/>
          <p:nvPr/>
        </p:nvSpPr>
        <p:spPr>
          <a:xfrm>
            <a:off x="73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" name="Text 50"/>
          <p:cNvSpPr/>
          <p:nvPr/>
        </p:nvSpPr>
        <p:spPr>
          <a:xfrm>
            <a:off x="69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7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" name="Shape 52"/>
          <p:cNvSpPr/>
          <p:nvPr/>
        </p:nvSpPr>
        <p:spPr>
          <a:xfrm>
            <a:off x="81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" name="Text 53"/>
          <p:cNvSpPr/>
          <p:nvPr/>
        </p:nvSpPr>
        <p:spPr>
          <a:xfrm>
            <a:off x="77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20040" y="14401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" name="Text 55"/>
          <p:cNvSpPr/>
          <p:nvPr/>
        </p:nvSpPr>
        <p:spPr>
          <a:xfrm>
            <a:off x="411480" y="14401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Source-traceable notes (cite exact quote per claim)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520440" y="14401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9" name="Shape 57"/>
          <p:cNvSpPr/>
          <p:nvPr/>
        </p:nvSpPr>
        <p:spPr>
          <a:xfrm>
            <a:off x="3950208" y="14218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0" name="Text 58"/>
          <p:cNvSpPr/>
          <p:nvPr/>
        </p:nvSpPr>
        <p:spPr>
          <a:xfrm>
            <a:off x="3520440" y="14401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5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2" name="Text 60"/>
          <p:cNvSpPr/>
          <p:nvPr/>
        </p:nvSpPr>
        <p:spPr>
          <a:xfrm>
            <a:off x="45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4" name="Text 62"/>
          <p:cNvSpPr/>
          <p:nvPr/>
        </p:nvSpPr>
        <p:spPr>
          <a:xfrm>
            <a:off x="53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6" name="Shape 64"/>
          <p:cNvSpPr/>
          <p:nvPr/>
        </p:nvSpPr>
        <p:spPr>
          <a:xfrm>
            <a:off x="7337760" y="149504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7" name="Shape 65"/>
          <p:cNvSpPr/>
          <p:nvPr/>
        </p:nvSpPr>
        <p:spPr>
          <a:xfrm>
            <a:off x="77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8" name="Text 66"/>
          <p:cNvSpPr/>
          <p:nvPr/>
        </p:nvSpPr>
        <p:spPr>
          <a:xfrm>
            <a:off x="77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0040" y="1549908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0" name="Text 68"/>
          <p:cNvSpPr/>
          <p:nvPr/>
        </p:nvSpPr>
        <p:spPr>
          <a:xfrm>
            <a:off x="411480" y="15499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Specialty-specific note templates (20+ specialties)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520440" y="15499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2" name="Shape 70"/>
          <p:cNvSpPr/>
          <p:nvPr/>
        </p:nvSpPr>
        <p:spPr>
          <a:xfrm>
            <a:off x="3950208" y="15316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3" name="Text 71"/>
          <p:cNvSpPr/>
          <p:nvPr/>
        </p:nvSpPr>
        <p:spPr>
          <a:xfrm>
            <a:off x="3520440" y="15499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5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5" name="Shape 73"/>
          <p:cNvSpPr/>
          <p:nvPr/>
        </p:nvSpPr>
        <p:spPr>
          <a:xfrm>
            <a:off x="49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6" name="Text 74"/>
          <p:cNvSpPr/>
          <p:nvPr/>
        </p:nvSpPr>
        <p:spPr>
          <a:xfrm>
            <a:off x="45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3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8" name="Shape 76"/>
          <p:cNvSpPr/>
          <p:nvPr/>
        </p:nvSpPr>
        <p:spPr>
          <a:xfrm>
            <a:off x="57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9" name="Text 77"/>
          <p:cNvSpPr/>
          <p:nvPr/>
        </p:nvSpPr>
        <p:spPr>
          <a:xfrm>
            <a:off x="53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9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1" name="Shape 79"/>
          <p:cNvSpPr/>
          <p:nvPr/>
        </p:nvSpPr>
        <p:spPr>
          <a:xfrm>
            <a:off x="73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2" name="Text 80"/>
          <p:cNvSpPr/>
          <p:nvPr/>
        </p:nvSpPr>
        <p:spPr>
          <a:xfrm>
            <a:off x="69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77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4" name="Shape 82"/>
          <p:cNvSpPr/>
          <p:nvPr/>
        </p:nvSpPr>
        <p:spPr>
          <a:xfrm>
            <a:off x="81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5" name="Text 83"/>
          <p:cNvSpPr/>
          <p:nvPr/>
        </p:nvSpPr>
        <p:spPr>
          <a:xfrm>
            <a:off x="77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20040" y="1659636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7" name="Text 85"/>
          <p:cNvSpPr/>
          <p:nvPr/>
        </p:nvSpPr>
        <p:spPr>
          <a:xfrm>
            <a:off x="411480" y="16596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Referral letters auto-generated from transcript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520440" y="16596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9" name="Shape 87"/>
          <p:cNvSpPr/>
          <p:nvPr/>
        </p:nvSpPr>
        <p:spPr>
          <a:xfrm>
            <a:off x="3950208" y="16413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0" name="Text 88"/>
          <p:cNvSpPr/>
          <p:nvPr/>
        </p:nvSpPr>
        <p:spPr>
          <a:xfrm>
            <a:off x="3520440" y="16596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45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2" name="Shape 90"/>
          <p:cNvSpPr/>
          <p:nvPr/>
        </p:nvSpPr>
        <p:spPr>
          <a:xfrm>
            <a:off x="4956048" y="1641348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3" name="Text 91"/>
          <p:cNvSpPr/>
          <p:nvPr/>
        </p:nvSpPr>
        <p:spPr>
          <a:xfrm>
            <a:off x="45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53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5" name="Text 93"/>
          <p:cNvSpPr/>
          <p:nvPr/>
        </p:nvSpPr>
        <p:spPr>
          <a:xfrm>
            <a:off x="53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9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7" name="Shape 95"/>
          <p:cNvSpPr/>
          <p:nvPr/>
        </p:nvSpPr>
        <p:spPr>
          <a:xfrm>
            <a:off x="7356048" y="1641348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8" name="Text 96"/>
          <p:cNvSpPr/>
          <p:nvPr/>
        </p:nvSpPr>
        <p:spPr>
          <a:xfrm>
            <a:off x="69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7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0" name="Text 98"/>
          <p:cNvSpPr/>
          <p:nvPr/>
        </p:nvSpPr>
        <p:spPr>
          <a:xfrm>
            <a:off x="77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20040" y="1769364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2" name="Text 100"/>
          <p:cNvSpPr/>
          <p:nvPr/>
        </p:nvSpPr>
        <p:spPr>
          <a:xfrm>
            <a:off x="411480" y="176936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After-visit / patient-facing summaries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3520440" y="176936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4" name="Shape 102"/>
          <p:cNvSpPr/>
          <p:nvPr/>
        </p:nvSpPr>
        <p:spPr>
          <a:xfrm>
            <a:off x="3950208" y="175107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5" name="Text 103"/>
          <p:cNvSpPr/>
          <p:nvPr/>
        </p:nvSpPr>
        <p:spPr>
          <a:xfrm>
            <a:off x="3520440" y="176936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45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7" name="Shape 105"/>
          <p:cNvSpPr/>
          <p:nvPr/>
        </p:nvSpPr>
        <p:spPr>
          <a:xfrm>
            <a:off x="4956048" y="17510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8" name="Text 106"/>
          <p:cNvSpPr/>
          <p:nvPr/>
        </p:nvSpPr>
        <p:spPr>
          <a:xfrm>
            <a:off x="45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53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0" name="Shape 108"/>
          <p:cNvSpPr/>
          <p:nvPr/>
        </p:nvSpPr>
        <p:spPr>
          <a:xfrm>
            <a:off x="5756048" y="17510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1" name="Text 109"/>
          <p:cNvSpPr/>
          <p:nvPr/>
        </p:nvSpPr>
        <p:spPr>
          <a:xfrm>
            <a:off x="53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69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3" name="Shape 111"/>
          <p:cNvSpPr/>
          <p:nvPr/>
        </p:nvSpPr>
        <p:spPr>
          <a:xfrm>
            <a:off x="7356048" y="17510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4" name="Text 112"/>
          <p:cNvSpPr/>
          <p:nvPr/>
        </p:nvSpPr>
        <p:spPr>
          <a:xfrm>
            <a:off x="69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7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6" name="Text 114"/>
          <p:cNvSpPr/>
          <p:nvPr/>
        </p:nvSpPr>
        <p:spPr>
          <a:xfrm>
            <a:off x="77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20040" y="1879092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8" name="Text 116"/>
          <p:cNvSpPr/>
          <p:nvPr/>
        </p:nvSpPr>
        <p:spPr>
          <a:xfrm>
            <a:off x="411480" y="187909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Pre-charting &amp; visit prep (prior visit summary, chat)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3520440" y="187909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0" name="Shape 118"/>
          <p:cNvSpPr/>
          <p:nvPr/>
        </p:nvSpPr>
        <p:spPr>
          <a:xfrm>
            <a:off x="3950208" y="186080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1" name="Text 119"/>
          <p:cNvSpPr/>
          <p:nvPr/>
        </p:nvSpPr>
        <p:spPr>
          <a:xfrm>
            <a:off x="3520440" y="187909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5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3" name="Shape 121"/>
          <p:cNvSpPr/>
          <p:nvPr/>
        </p:nvSpPr>
        <p:spPr>
          <a:xfrm>
            <a:off x="4937760" y="193395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4" name="Shape 122"/>
          <p:cNvSpPr/>
          <p:nvPr/>
        </p:nvSpPr>
        <p:spPr>
          <a:xfrm>
            <a:off x="53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5" name="Shape 123"/>
          <p:cNvSpPr/>
          <p:nvPr/>
        </p:nvSpPr>
        <p:spPr>
          <a:xfrm>
            <a:off x="5756048" y="186080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6" name="Text 124"/>
          <p:cNvSpPr/>
          <p:nvPr/>
        </p:nvSpPr>
        <p:spPr>
          <a:xfrm>
            <a:off x="53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69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8" name="Text 126"/>
          <p:cNvSpPr/>
          <p:nvPr/>
        </p:nvSpPr>
        <p:spPr>
          <a:xfrm>
            <a:off x="69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77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0" name="Text 128"/>
          <p:cNvSpPr/>
          <p:nvPr/>
        </p:nvSpPr>
        <p:spPr>
          <a:xfrm>
            <a:off x="77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320040" y="1988820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2" name="Text 130"/>
          <p:cNvSpPr/>
          <p:nvPr/>
        </p:nvSpPr>
        <p:spPr>
          <a:xfrm>
            <a:off x="429768" y="1988820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</a:t>
            </a:r>
            <a:endParaRPr lang="en-US" sz="500" dirty="0"/>
          </a:p>
        </p:txBody>
      </p:sp>
      <p:sp>
        <p:nvSpPr>
          <p:cNvPr id="133" name="Shape 131"/>
          <p:cNvSpPr/>
          <p:nvPr/>
        </p:nvSpPr>
        <p:spPr>
          <a:xfrm>
            <a:off x="320040" y="2130552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4" name="Text 132"/>
          <p:cNvSpPr/>
          <p:nvPr/>
        </p:nvSpPr>
        <p:spPr>
          <a:xfrm>
            <a:off x="411480" y="21305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Clinical Copilot (during visit)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3520440" y="21305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6" name="Shape 134"/>
          <p:cNvSpPr/>
          <p:nvPr/>
        </p:nvSpPr>
        <p:spPr>
          <a:xfrm>
            <a:off x="3950208" y="21122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7" name="Text 135"/>
          <p:cNvSpPr/>
          <p:nvPr/>
        </p:nvSpPr>
        <p:spPr>
          <a:xfrm>
            <a:off x="3520440" y="21305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45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9" name="Shape 137"/>
          <p:cNvSpPr/>
          <p:nvPr/>
        </p:nvSpPr>
        <p:spPr>
          <a:xfrm>
            <a:off x="4937760" y="21854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0" name="Shape 138"/>
          <p:cNvSpPr/>
          <p:nvPr/>
        </p:nvSpPr>
        <p:spPr>
          <a:xfrm>
            <a:off x="53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1" name="Text 139"/>
          <p:cNvSpPr/>
          <p:nvPr/>
        </p:nvSpPr>
        <p:spPr>
          <a:xfrm>
            <a:off x="5326280" y="21305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69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3" name="Shape 141"/>
          <p:cNvSpPr/>
          <p:nvPr/>
        </p:nvSpPr>
        <p:spPr>
          <a:xfrm>
            <a:off x="7337760" y="21854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4" name="Shape 142"/>
          <p:cNvSpPr/>
          <p:nvPr/>
        </p:nvSpPr>
        <p:spPr>
          <a:xfrm>
            <a:off x="77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5" name="Text 143"/>
          <p:cNvSpPr/>
          <p:nvPr/>
        </p:nvSpPr>
        <p:spPr>
          <a:xfrm>
            <a:off x="7726280" y="21305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320040" y="22402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7" name="Text 145"/>
          <p:cNvSpPr/>
          <p:nvPr/>
        </p:nvSpPr>
        <p:spPr>
          <a:xfrm>
            <a:off x="411480" y="22402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evidence / guidelines at point of care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520440" y="22402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9" name="Shape 147"/>
          <p:cNvSpPr/>
          <p:nvPr/>
        </p:nvSpPr>
        <p:spPr>
          <a:xfrm>
            <a:off x="3950208" y="22219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0" name="Text 148"/>
          <p:cNvSpPr/>
          <p:nvPr/>
        </p:nvSpPr>
        <p:spPr>
          <a:xfrm>
            <a:off x="3520440" y="22402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45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2" name="Shape 150"/>
          <p:cNvSpPr/>
          <p:nvPr/>
        </p:nvSpPr>
        <p:spPr>
          <a:xfrm>
            <a:off x="4956048" y="22219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3" name="Text 151"/>
          <p:cNvSpPr/>
          <p:nvPr/>
        </p:nvSpPr>
        <p:spPr>
          <a:xfrm>
            <a:off x="45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53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5" name="Text 153"/>
          <p:cNvSpPr/>
          <p:nvPr/>
        </p:nvSpPr>
        <p:spPr>
          <a:xfrm>
            <a:off x="53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69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7" name="Shape 155"/>
          <p:cNvSpPr/>
          <p:nvPr/>
        </p:nvSpPr>
        <p:spPr>
          <a:xfrm>
            <a:off x="7356048" y="22219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8" name="Text 156"/>
          <p:cNvSpPr/>
          <p:nvPr/>
        </p:nvSpPr>
        <p:spPr>
          <a:xfrm>
            <a:off x="69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77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0" name="Text 158"/>
          <p:cNvSpPr/>
          <p:nvPr/>
        </p:nvSpPr>
        <p:spPr>
          <a:xfrm>
            <a:off x="77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320040" y="2350008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2" name="Text 160"/>
          <p:cNvSpPr/>
          <p:nvPr/>
        </p:nvSpPr>
        <p:spPr>
          <a:xfrm>
            <a:off x="411480" y="23500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AI-suggested follow-up questions (live)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3520440" y="23500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4" name="Shape 162"/>
          <p:cNvSpPr/>
          <p:nvPr/>
        </p:nvSpPr>
        <p:spPr>
          <a:xfrm>
            <a:off x="3950208" y="23317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5" name="Text 163"/>
          <p:cNvSpPr/>
          <p:nvPr/>
        </p:nvSpPr>
        <p:spPr>
          <a:xfrm>
            <a:off x="3520440" y="23500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45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7" name="Text 165"/>
          <p:cNvSpPr/>
          <p:nvPr/>
        </p:nvSpPr>
        <p:spPr>
          <a:xfrm>
            <a:off x="45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53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9" name="Text 167"/>
          <p:cNvSpPr/>
          <p:nvPr/>
        </p:nvSpPr>
        <p:spPr>
          <a:xfrm>
            <a:off x="53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9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1" name="Text 169"/>
          <p:cNvSpPr/>
          <p:nvPr/>
        </p:nvSpPr>
        <p:spPr>
          <a:xfrm>
            <a:off x="69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77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3" name="Text 171"/>
          <p:cNvSpPr/>
          <p:nvPr/>
        </p:nvSpPr>
        <p:spPr>
          <a:xfrm>
            <a:off x="77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320040" y="2459736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5" name="Text 173"/>
          <p:cNvSpPr/>
          <p:nvPr/>
        </p:nvSpPr>
        <p:spPr>
          <a:xfrm>
            <a:off x="411480" y="24597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Evolving differential diagnosis (live)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3520440" y="24597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7" name="Shape 175"/>
          <p:cNvSpPr/>
          <p:nvPr/>
        </p:nvSpPr>
        <p:spPr>
          <a:xfrm>
            <a:off x="3950208" y="24414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8" name="Text 176"/>
          <p:cNvSpPr/>
          <p:nvPr/>
        </p:nvSpPr>
        <p:spPr>
          <a:xfrm>
            <a:off x="3520440" y="24597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45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0" name="Text 178"/>
          <p:cNvSpPr/>
          <p:nvPr/>
        </p:nvSpPr>
        <p:spPr>
          <a:xfrm>
            <a:off x="45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53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2" name="Text 180"/>
          <p:cNvSpPr/>
          <p:nvPr/>
        </p:nvSpPr>
        <p:spPr>
          <a:xfrm>
            <a:off x="53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69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4" name="Text 182"/>
          <p:cNvSpPr/>
          <p:nvPr/>
        </p:nvSpPr>
        <p:spPr>
          <a:xfrm>
            <a:off x="69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77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6" name="Text 184"/>
          <p:cNvSpPr/>
          <p:nvPr/>
        </p:nvSpPr>
        <p:spPr>
          <a:xfrm>
            <a:off x="77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320040" y="2569464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8" name="Text 186"/>
          <p:cNvSpPr/>
          <p:nvPr/>
        </p:nvSpPr>
        <p:spPr>
          <a:xfrm>
            <a:off x="411480" y="256946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Safety alerts &amp; drug interaction checking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3520440" y="256946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0" name="Shape 188"/>
          <p:cNvSpPr/>
          <p:nvPr/>
        </p:nvSpPr>
        <p:spPr>
          <a:xfrm>
            <a:off x="3950208" y="255117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1" name="Text 189"/>
          <p:cNvSpPr/>
          <p:nvPr/>
        </p:nvSpPr>
        <p:spPr>
          <a:xfrm>
            <a:off x="3520440" y="256946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45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3" name="Shape 191"/>
          <p:cNvSpPr/>
          <p:nvPr/>
        </p:nvSpPr>
        <p:spPr>
          <a:xfrm>
            <a:off x="4937760" y="262432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4" name="Shape 192"/>
          <p:cNvSpPr/>
          <p:nvPr/>
        </p:nvSpPr>
        <p:spPr>
          <a:xfrm>
            <a:off x="53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5" name="Text 193"/>
          <p:cNvSpPr/>
          <p:nvPr/>
        </p:nvSpPr>
        <p:spPr>
          <a:xfrm>
            <a:off x="53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69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7" name="Shape 195"/>
          <p:cNvSpPr/>
          <p:nvPr/>
        </p:nvSpPr>
        <p:spPr>
          <a:xfrm>
            <a:off x="7356048" y="25511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8" name="Text 196"/>
          <p:cNvSpPr/>
          <p:nvPr/>
        </p:nvSpPr>
        <p:spPr>
          <a:xfrm>
            <a:off x="69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99" name="Shape 197"/>
          <p:cNvSpPr/>
          <p:nvPr/>
        </p:nvSpPr>
        <p:spPr>
          <a:xfrm>
            <a:off x="77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0" name="Text 198"/>
          <p:cNvSpPr/>
          <p:nvPr/>
        </p:nvSpPr>
        <p:spPr>
          <a:xfrm>
            <a:off x="77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320040" y="2679192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2" name="Text 200"/>
          <p:cNvSpPr/>
          <p:nvPr/>
        </p:nvSpPr>
        <p:spPr>
          <a:xfrm>
            <a:off x="411480" y="267919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HCC risk / value-based care coding support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20440" y="267919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4" name="Shape 202"/>
          <p:cNvSpPr/>
          <p:nvPr/>
        </p:nvSpPr>
        <p:spPr>
          <a:xfrm>
            <a:off x="3950208" y="266090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5" name="Text 203"/>
          <p:cNvSpPr/>
          <p:nvPr/>
        </p:nvSpPr>
        <p:spPr>
          <a:xfrm>
            <a:off x="3520440" y="267919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45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7" name="Text 205"/>
          <p:cNvSpPr/>
          <p:nvPr/>
        </p:nvSpPr>
        <p:spPr>
          <a:xfrm>
            <a:off x="45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08" name="Shape 206"/>
          <p:cNvSpPr/>
          <p:nvPr/>
        </p:nvSpPr>
        <p:spPr>
          <a:xfrm>
            <a:off x="53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9" name="Text 207"/>
          <p:cNvSpPr/>
          <p:nvPr/>
        </p:nvSpPr>
        <p:spPr>
          <a:xfrm>
            <a:off x="53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10" name="Shape 208"/>
          <p:cNvSpPr/>
          <p:nvPr/>
        </p:nvSpPr>
        <p:spPr>
          <a:xfrm>
            <a:off x="69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1" name="Shape 209"/>
          <p:cNvSpPr/>
          <p:nvPr/>
        </p:nvSpPr>
        <p:spPr>
          <a:xfrm>
            <a:off x="7337760" y="273405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2" name="Shape 210"/>
          <p:cNvSpPr/>
          <p:nvPr/>
        </p:nvSpPr>
        <p:spPr>
          <a:xfrm>
            <a:off x="77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3" name="Shape 211"/>
          <p:cNvSpPr/>
          <p:nvPr/>
        </p:nvSpPr>
        <p:spPr>
          <a:xfrm>
            <a:off x="8156048" y="266090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4" name="Text 212"/>
          <p:cNvSpPr/>
          <p:nvPr/>
        </p:nvSpPr>
        <p:spPr>
          <a:xfrm>
            <a:off x="77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15" name="Shape 213"/>
          <p:cNvSpPr/>
          <p:nvPr/>
        </p:nvSpPr>
        <p:spPr>
          <a:xfrm>
            <a:off x="320040" y="2788920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6" name="Text 214"/>
          <p:cNvSpPr/>
          <p:nvPr/>
        </p:nvSpPr>
        <p:spPr>
          <a:xfrm>
            <a:off x="411480" y="278892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 QA review layer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520440" y="278892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8" name="Shape 216"/>
          <p:cNvSpPr/>
          <p:nvPr/>
        </p:nvSpPr>
        <p:spPr>
          <a:xfrm>
            <a:off x="3931920" y="284378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9" name="Shape 217"/>
          <p:cNvSpPr/>
          <p:nvPr/>
        </p:nvSpPr>
        <p:spPr>
          <a:xfrm>
            <a:off x="45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0" name="Text 218"/>
          <p:cNvSpPr/>
          <p:nvPr/>
        </p:nvSpPr>
        <p:spPr>
          <a:xfrm>
            <a:off x="4526280" y="278892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53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2" name="Text 220"/>
          <p:cNvSpPr/>
          <p:nvPr/>
        </p:nvSpPr>
        <p:spPr>
          <a:xfrm>
            <a:off x="5326280" y="278892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69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4" name="Shape 222"/>
          <p:cNvSpPr/>
          <p:nvPr/>
        </p:nvSpPr>
        <p:spPr>
          <a:xfrm>
            <a:off x="7337760" y="284378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5" name="Shape 223"/>
          <p:cNvSpPr/>
          <p:nvPr/>
        </p:nvSpPr>
        <p:spPr>
          <a:xfrm>
            <a:off x="77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6" name="Shape 224"/>
          <p:cNvSpPr/>
          <p:nvPr/>
        </p:nvSpPr>
        <p:spPr>
          <a:xfrm>
            <a:off x="8137760" y="284378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7" name="Shape 225"/>
          <p:cNvSpPr/>
          <p:nvPr/>
        </p:nvSpPr>
        <p:spPr>
          <a:xfrm>
            <a:off x="320040" y="2898648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8" name="Text 226"/>
          <p:cNvSpPr/>
          <p:nvPr/>
        </p:nvSpPr>
        <p:spPr>
          <a:xfrm>
            <a:off x="429768" y="2898648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ACCURACY (Levio moat)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320040" y="30403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0" name="Text 228"/>
          <p:cNvSpPr/>
          <p:nvPr/>
        </p:nvSpPr>
        <p:spPr>
          <a:xfrm>
            <a:off x="411480" y="30403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 / CPT auto-coding</a:t>
            </a:r>
            <a:endParaRPr lang="en-US" sz="700" dirty="0"/>
          </a:p>
        </p:txBody>
      </p:sp>
      <p:sp>
        <p:nvSpPr>
          <p:cNvPr id="231" name="Shape 229"/>
          <p:cNvSpPr/>
          <p:nvPr/>
        </p:nvSpPr>
        <p:spPr>
          <a:xfrm>
            <a:off x="3520440" y="30403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2" name="Shape 230"/>
          <p:cNvSpPr/>
          <p:nvPr/>
        </p:nvSpPr>
        <p:spPr>
          <a:xfrm>
            <a:off x="3950208" y="30220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3" name="Text 231"/>
          <p:cNvSpPr/>
          <p:nvPr/>
        </p:nvSpPr>
        <p:spPr>
          <a:xfrm>
            <a:off x="3520440" y="30403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34" name="Shape 232"/>
          <p:cNvSpPr/>
          <p:nvPr/>
        </p:nvSpPr>
        <p:spPr>
          <a:xfrm>
            <a:off x="45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5" name="Shape 233"/>
          <p:cNvSpPr/>
          <p:nvPr/>
        </p:nvSpPr>
        <p:spPr>
          <a:xfrm>
            <a:off x="4956048" y="30220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6" name="Text 234"/>
          <p:cNvSpPr/>
          <p:nvPr/>
        </p:nvSpPr>
        <p:spPr>
          <a:xfrm>
            <a:off x="45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37" name="Shape 235"/>
          <p:cNvSpPr/>
          <p:nvPr/>
        </p:nvSpPr>
        <p:spPr>
          <a:xfrm>
            <a:off x="53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8" name="Shape 236"/>
          <p:cNvSpPr/>
          <p:nvPr/>
        </p:nvSpPr>
        <p:spPr>
          <a:xfrm>
            <a:off x="5737760" y="309524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9" name="Shape 237"/>
          <p:cNvSpPr/>
          <p:nvPr/>
        </p:nvSpPr>
        <p:spPr>
          <a:xfrm>
            <a:off x="69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0" name="Shape 238"/>
          <p:cNvSpPr/>
          <p:nvPr/>
        </p:nvSpPr>
        <p:spPr>
          <a:xfrm>
            <a:off x="7356048" y="30220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1" name="Text 239"/>
          <p:cNvSpPr/>
          <p:nvPr/>
        </p:nvSpPr>
        <p:spPr>
          <a:xfrm>
            <a:off x="69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42" name="Shape 240"/>
          <p:cNvSpPr/>
          <p:nvPr/>
        </p:nvSpPr>
        <p:spPr>
          <a:xfrm>
            <a:off x="77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3" name="Shape 241"/>
          <p:cNvSpPr/>
          <p:nvPr/>
        </p:nvSpPr>
        <p:spPr>
          <a:xfrm>
            <a:off x="8156048" y="30220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4" name="Text 242"/>
          <p:cNvSpPr/>
          <p:nvPr/>
        </p:nvSpPr>
        <p:spPr>
          <a:xfrm>
            <a:off x="77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45" name="Shape 243"/>
          <p:cNvSpPr/>
          <p:nvPr/>
        </p:nvSpPr>
        <p:spPr>
          <a:xfrm>
            <a:off x="320040" y="3150108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6" name="Shape 244"/>
          <p:cNvSpPr/>
          <p:nvPr/>
        </p:nvSpPr>
        <p:spPr>
          <a:xfrm>
            <a:off x="320040" y="3150108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7" name="Text 245"/>
          <p:cNvSpPr/>
          <p:nvPr/>
        </p:nvSpPr>
        <p:spPr>
          <a:xfrm>
            <a:off x="411480" y="31501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Diagnostic time criteria enforcement (DSM/ICD)</a:t>
            </a:r>
            <a:endParaRPr lang="en-US" sz="700" dirty="0"/>
          </a:p>
        </p:txBody>
      </p:sp>
      <p:sp>
        <p:nvSpPr>
          <p:cNvPr id="248" name="Shape 246"/>
          <p:cNvSpPr/>
          <p:nvPr/>
        </p:nvSpPr>
        <p:spPr>
          <a:xfrm>
            <a:off x="3520440" y="31501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9" name="Shape 247"/>
          <p:cNvSpPr/>
          <p:nvPr/>
        </p:nvSpPr>
        <p:spPr>
          <a:xfrm>
            <a:off x="3950208" y="31318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0" name="Text 248"/>
          <p:cNvSpPr/>
          <p:nvPr/>
        </p:nvSpPr>
        <p:spPr>
          <a:xfrm>
            <a:off x="3520440" y="31501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51" name="Shape 249"/>
          <p:cNvSpPr/>
          <p:nvPr/>
        </p:nvSpPr>
        <p:spPr>
          <a:xfrm>
            <a:off x="45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2" name="Text 250"/>
          <p:cNvSpPr/>
          <p:nvPr/>
        </p:nvSpPr>
        <p:spPr>
          <a:xfrm>
            <a:off x="45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3" name="Shape 251"/>
          <p:cNvSpPr/>
          <p:nvPr/>
        </p:nvSpPr>
        <p:spPr>
          <a:xfrm>
            <a:off x="53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4" name="Text 252"/>
          <p:cNvSpPr/>
          <p:nvPr/>
        </p:nvSpPr>
        <p:spPr>
          <a:xfrm>
            <a:off x="53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69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6" name="Text 254"/>
          <p:cNvSpPr/>
          <p:nvPr/>
        </p:nvSpPr>
        <p:spPr>
          <a:xfrm>
            <a:off x="69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7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8" name="Text 256"/>
          <p:cNvSpPr/>
          <p:nvPr/>
        </p:nvSpPr>
        <p:spPr>
          <a:xfrm>
            <a:off x="77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320040" y="3259836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0" name="Shape 258"/>
          <p:cNvSpPr/>
          <p:nvPr/>
        </p:nvSpPr>
        <p:spPr>
          <a:xfrm>
            <a:off x="320040" y="3259836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1" name="Text 259"/>
          <p:cNvSpPr/>
          <p:nvPr/>
        </p:nvSpPr>
        <p:spPr>
          <a:xfrm>
            <a:off x="411480" y="32598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Severity &amp; symptom count validation (GAD, MDD, etc.)</a:t>
            </a:r>
            <a:endParaRPr lang="en-US" sz="700" dirty="0"/>
          </a:p>
        </p:txBody>
      </p:sp>
      <p:sp>
        <p:nvSpPr>
          <p:cNvPr id="262" name="Shape 260"/>
          <p:cNvSpPr/>
          <p:nvPr/>
        </p:nvSpPr>
        <p:spPr>
          <a:xfrm>
            <a:off x="3520440" y="32598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3" name="Shape 261"/>
          <p:cNvSpPr/>
          <p:nvPr/>
        </p:nvSpPr>
        <p:spPr>
          <a:xfrm>
            <a:off x="3950208" y="32415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4" name="Text 262"/>
          <p:cNvSpPr/>
          <p:nvPr/>
        </p:nvSpPr>
        <p:spPr>
          <a:xfrm>
            <a:off x="3520440" y="32598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65" name="Shape 263"/>
          <p:cNvSpPr/>
          <p:nvPr/>
        </p:nvSpPr>
        <p:spPr>
          <a:xfrm>
            <a:off x="45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6" name="Text 264"/>
          <p:cNvSpPr/>
          <p:nvPr/>
        </p:nvSpPr>
        <p:spPr>
          <a:xfrm>
            <a:off x="45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53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8" name="Text 266"/>
          <p:cNvSpPr/>
          <p:nvPr/>
        </p:nvSpPr>
        <p:spPr>
          <a:xfrm>
            <a:off x="53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69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0" name="Text 268"/>
          <p:cNvSpPr/>
          <p:nvPr/>
        </p:nvSpPr>
        <p:spPr>
          <a:xfrm>
            <a:off x="69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77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2" name="Text 270"/>
          <p:cNvSpPr/>
          <p:nvPr/>
        </p:nvSpPr>
        <p:spPr>
          <a:xfrm>
            <a:off x="77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320040" y="3369564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4" name="Shape 272"/>
          <p:cNvSpPr/>
          <p:nvPr/>
        </p:nvSpPr>
        <p:spPr>
          <a:xfrm>
            <a:off x="320040" y="3369564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5" name="Text 273"/>
          <p:cNvSpPr/>
          <p:nvPr/>
        </p:nvSpPr>
        <p:spPr>
          <a:xfrm>
            <a:off x="411480" y="336956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Multi-standard coding (ICD-10-GM, SNOMED CT, CCAM)</a:t>
            </a:r>
            <a:endParaRPr lang="en-US" sz="700" dirty="0"/>
          </a:p>
        </p:txBody>
      </p:sp>
      <p:sp>
        <p:nvSpPr>
          <p:cNvPr id="276" name="Shape 274"/>
          <p:cNvSpPr/>
          <p:nvPr/>
        </p:nvSpPr>
        <p:spPr>
          <a:xfrm>
            <a:off x="3520440" y="336956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7" name="Shape 275"/>
          <p:cNvSpPr/>
          <p:nvPr/>
        </p:nvSpPr>
        <p:spPr>
          <a:xfrm>
            <a:off x="3950208" y="335127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8" name="Text 276"/>
          <p:cNvSpPr/>
          <p:nvPr/>
        </p:nvSpPr>
        <p:spPr>
          <a:xfrm>
            <a:off x="3520440" y="336956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79" name="Shape 277"/>
          <p:cNvSpPr/>
          <p:nvPr/>
        </p:nvSpPr>
        <p:spPr>
          <a:xfrm>
            <a:off x="45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0" name="Text 278"/>
          <p:cNvSpPr/>
          <p:nvPr/>
        </p:nvSpPr>
        <p:spPr>
          <a:xfrm>
            <a:off x="45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81" name="Shape 279"/>
          <p:cNvSpPr/>
          <p:nvPr/>
        </p:nvSpPr>
        <p:spPr>
          <a:xfrm>
            <a:off x="53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2" name="Text 280"/>
          <p:cNvSpPr/>
          <p:nvPr/>
        </p:nvSpPr>
        <p:spPr>
          <a:xfrm>
            <a:off x="53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69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4" name="Shape 282"/>
          <p:cNvSpPr/>
          <p:nvPr/>
        </p:nvSpPr>
        <p:spPr>
          <a:xfrm>
            <a:off x="7337760" y="342442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5" name="Shape 283"/>
          <p:cNvSpPr/>
          <p:nvPr/>
        </p:nvSpPr>
        <p:spPr>
          <a:xfrm>
            <a:off x="77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6" name="Text 284"/>
          <p:cNvSpPr/>
          <p:nvPr/>
        </p:nvSpPr>
        <p:spPr>
          <a:xfrm>
            <a:off x="77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87" name="Shape 285"/>
          <p:cNvSpPr/>
          <p:nvPr/>
        </p:nvSpPr>
        <p:spPr>
          <a:xfrm>
            <a:off x="320040" y="3479292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8" name="Shape 286"/>
          <p:cNvSpPr/>
          <p:nvPr/>
        </p:nvSpPr>
        <p:spPr>
          <a:xfrm>
            <a:off x="320040" y="3479292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9" name="Text 287"/>
          <p:cNvSpPr/>
          <p:nvPr/>
        </p:nvSpPr>
        <p:spPr>
          <a:xfrm>
            <a:off x="411480" y="347929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Procedure code validation (OPCS-4, OPS, CCAM)</a:t>
            </a:r>
            <a:endParaRPr lang="en-US" sz="700" dirty="0"/>
          </a:p>
        </p:txBody>
      </p:sp>
      <p:sp>
        <p:nvSpPr>
          <p:cNvPr id="290" name="Shape 288"/>
          <p:cNvSpPr/>
          <p:nvPr/>
        </p:nvSpPr>
        <p:spPr>
          <a:xfrm>
            <a:off x="3520440" y="347929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1" name="Shape 289"/>
          <p:cNvSpPr/>
          <p:nvPr/>
        </p:nvSpPr>
        <p:spPr>
          <a:xfrm>
            <a:off x="3950208" y="346100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2" name="Text 290"/>
          <p:cNvSpPr/>
          <p:nvPr/>
        </p:nvSpPr>
        <p:spPr>
          <a:xfrm>
            <a:off x="3520440" y="347929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93" name="Shape 291"/>
          <p:cNvSpPr/>
          <p:nvPr/>
        </p:nvSpPr>
        <p:spPr>
          <a:xfrm>
            <a:off x="45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4" name="Text 292"/>
          <p:cNvSpPr/>
          <p:nvPr/>
        </p:nvSpPr>
        <p:spPr>
          <a:xfrm>
            <a:off x="45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53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6" name="Text 294"/>
          <p:cNvSpPr/>
          <p:nvPr/>
        </p:nvSpPr>
        <p:spPr>
          <a:xfrm>
            <a:off x="53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97" name="Shape 295"/>
          <p:cNvSpPr/>
          <p:nvPr/>
        </p:nvSpPr>
        <p:spPr>
          <a:xfrm>
            <a:off x="69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8" name="Text 296"/>
          <p:cNvSpPr/>
          <p:nvPr/>
        </p:nvSpPr>
        <p:spPr>
          <a:xfrm>
            <a:off x="69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99" name="Shape 297"/>
          <p:cNvSpPr/>
          <p:nvPr/>
        </p:nvSpPr>
        <p:spPr>
          <a:xfrm>
            <a:off x="77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0" name="Text 298"/>
          <p:cNvSpPr/>
          <p:nvPr/>
        </p:nvSpPr>
        <p:spPr>
          <a:xfrm>
            <a:off x="77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01" name="Shape 299"/>
          <p:cNvSpPr/>
          <p:nvPr/>
        </p:nvSpPr>
        <p:spPr>
          <a:xfrm>
            <a:off x="320040" y="3589020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2" name="Text 300"/>
          <p:cNvSpPr/>
          <p:nvPr/>
        </p:nvSpPr>
        <p:spPr>
          <a:xfrm>
            <a:off x="429768" y="3589020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PROTECTION (Levio moat)</a:t>
            </a:r>
            <a:endParaRPr lang="en-US" sz="500" dirty="0"/>
          </a:p>
        </p:txBody>
      </p:sp>
      <p:sp>
        <p:nvSpPr>
          <p:cNvPr id="303" name="Shape 301"/>
          <p:cNvSpPr/>
          <p:nvPr/>
        </p:nvSpPr>
        <p:spPr>
          <a:xfrm>
            <a:off x="320040" y="3730752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4" name="Shape 302"/>
          <p:cNvSpPr/>
          <p:nvPr/>
        </p:nvSpPr>
        <p:spPr>
          <a:xfrm>
            <a:off x="320040" y="3730752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5" name="Text 303"/>
          <p:cNvSpPr/>
          <p:nvPr/>
        </p:nvSpPr>
        <p:spPr>
          <a:xfrm>
            <a:off x="411480" y="37307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Insurance billing validation per payer/market</a:t>
            </a:r>
            <a:endParaRPr lang="en-US" sz="700" dirty="0"/>
          </a:p>
        </p:txBody>
      </p:sp>
      <p:sp>
        <p:nvSpPr>
          <p:cNvPr id="306" name="Shape 304"/>
          <p:cNvSpPr/>
          <p:nvPr/>
        </p:nvSpPr>
        <p:spPr>
          <a:xfrm>
            <a:off x="3520440" y="37307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7" name="Shape 305"/>
          <p:cNvSpPr/>
          <p:nvPr/>
        </p:nvSpPr>
        <p:spPr>
          <a:xfrm>
            <a:off x="3950208" y="37124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8" name="Text 306"/>
          <p:cNvSpPr/>
          <p:nvPr/>
        </p:nvSpPr>
        <p:spPr>
          <a:xfrm>
            <a:off x="3520440" y="37307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09" name="Shape 307"/>
          <p:cNvSpPr/>
          <p:nvPr/>
        </p:nvSpPr>
        <p:spPr>
          <a:xfrm>
            <a:off x="45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0" name="Text 308"/>
          <p:cNvSpPr/>
          <p:nvPr/>
        </p:nvSpPr>
        <p:spPr>
          <a:xfrm>
            <a:off x="45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11" name="Shape 309"/>
          <p:cNvSpPr/>
          <p:nvPr/>
        </p:nvSpPr>
        <p:spPr>
          <a:xfrm>
            <a:off x="53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2" name="Text 310"/>
          <p:cNvSpPr/>
          <p:nvPr/>
        </p:nvSpPr>
        <p:spPr>
          <a:xfrm>
            <a:off x="53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69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4" name="Shape 312"/>
          <p:cNvSpPr/>
          <p:nvPr/>
        </p:nvSpPr>
        <p:spPr>
          <a:xfrm>
            <a:off x="7337760" y="37856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5" name="Shape 313"/>
          <p:cNvSpPr/>
          <p:nvPr/>
        </p:nvSpPr>
        <p:spPr>
          <a:xfrm>
            <a:off x="77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6" name="Text 314"/>
          <p:cNvSpPr/>
          <p:nvPr/>
        </p:nvSpPr>
        <p:spPr>
          <a:xfrm>
            <a:off x="77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17" name="Shape 315"/>
          <p:cNvSpPr/>
          <p:nvPr/>
        </p:nvSpPr>
        <p:spPr>
          <a:xfrm>
            <a:off x="320040" y="3840480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8" name="Shape 316"/>
          <p:cNvSpPr/>
          <p:nvPr/>
        </p:nvSpPr>
        <p:spPr>
          <a:xfrm>
            <a:off x="320040" y="3840480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19" name="Text 317"/>
          <p:cNvSpPr/>
          <p:nvPr/>
        </p:nvSpPr>
        <p:spPr>
          <a:xfrm>
            <a:off x="411480" y="38404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COCA / CNAM / GKV / SIUI protocol compliance</a:t>
            </a:r>
            <a:endParaRPr lang="en-US" sz="700" dirty="0"/>
          </a:p>
        </p:txBody>
      </p:sp>
      <p:sp>
        <p:nvSpPr>
          <p:cNvPr id="320" name="Shape 318"/>
          <p:cNvSpPr/>
          <p:nvPr/>
        </p:nvSpPr>
        <p:spPr>
          <a:xfrm>
            <a:off x="3520440" y="38404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1" name="Shape 319"/>
          <p:cNvSpPr/>
          <p:nvPr/>
        </p:nvSpPr>
        <p:spPr>
          <a:xfrm>
            <a:off x="3950208" y="38221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2" name="Text 320"/>
          <p:cNvSpPr/>
          <p:nvPr/>
        </p:nvSpPr>
        <p:spPr>
          <a:xfrm>
            <a:off x="3520440" y="38404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23" name="Shape 321"/>
          <p:cNvSpPr/>
          <p:nvPr/>
        </p:nvSpPr>
        <p:spPr>
          <a:xfrm>
            <a:off x="45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4" name="Text 322"/>
          <p:cNvSpPr/>
          <p:nvPr/>
        </p:nvSpPr>
        <p:spPr>
          <a:xfrm>
            <a:off x="45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25" name="Shape 323"/>
          <p:cNvSpPr/>
          <p:nvPr/>
        </p:nvSpPr>
        <p:spPr>
          <a:xfrm>
            <a:off x="53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6" name="Text 324"/>
          <p:cNvSpPr/>
          <p:nvPr/>
        </p:nvSpPr>
        <p:spPr>
          <a:xfrm>
            <a:off x="53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27" name="Shape 325"/>
          <p:cNvSpPr/>
          <p:nvPr/>
        </p:nvSpPr>
        <p:spPr>
          <a:xfrm>
            <a:off x="69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8" name="Text 326"/>
          <p:cNvSpPr/>
          <p:nvPr/>
        </p:nvSpPr>
        <p:spPr>
          <a:xfrm>
            <a:off x="69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29" name="Shape 327"/>
          <p:cNvSpPr/>
          <p:nvPr/>
        </p:nvSpPr>
        <p:spPr>
          <a:xfrm>
            <a:off x="77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0" name="Text 328"/>
          <p:cNvSpPr/>
          <p:nvPr/>
        </p:nvSpPr>
        <p:spPr>
          <a:xfrm>
            <a:off x="77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31" name="Shape 329"/>
          <p:cNvSpPr/>
          <p:nvPr/>
        </p:nvSpPr>
        <p:spPr>
          <a:xfrm>
            <a:off x="320040" y="3950208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2" name="Shape 330"/>
          <p:cNvSpPr/>
          <p:nvPr/>
        </p:nvSpPr>
        <p:spPr>
          <a:xfrm>
            <a:off x="320040" y="3950208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3" name="Text 331"/>
          <p:cNvSpPr/>
          <p:nvPr/>
        </p:nvSpPr>
        <p:spPr>
          <a:xfrm>
            <a:off x="411480" y="39502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 protocol enforcement (CANMAT / Maudsley)</a:t>
            </a:r>
            <a:endParaRPr lang="en-US" sz="700" dirty="0"/>
          </a:p>
        </p:txBody>
      </p:sp>
      <p:sp>
        <p:nvSpPr>
          <p:cNvPr id="334" name="Shape 332"/>
          <p:cNvSpPr/>
          <p:nvPr/>
        </p:nvSpPr>
        <p:spPr>
          <a:xfrm>
            <a:off x="3520440" y="39502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5" name="Shape 333"/>
          <p:cNvSpPr/>
          <p:nvPr/>
        </p:nvSpPr>
        <p:spPr>
          <a:xfrm>
            <a:off x="3950208" y="39319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6" name="Text 334"/>
          <p:cNvSpPr/>
          <p:nvPr/>
        </p:nvSpPr>
        <p:spPr>
          <a:xfrm>
            <a:off x="3520440" y="39502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37" name="Shape 335"/>
          <p:cNvSpPr/>
          <p:nvPr/>
        </p:nvSpPr>
        <p:spPr>
          <a:xfrm>
            <a:off x="45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8" name="Text 336"/>
          <p:cNvSpPr/>
          <p:nvPr/>
        </p:nvSpPr>
        <p:spPr>
          <a:xfrm>
            <a:off x="45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39" name="Shape 337"/>
          <p:cNvSpPr/>
          <p:nvPr/>
        </p:nvSpPr>
        <p:spPr>
          <a:xfrm>
            <a:off x="53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0" name="Text 338"/>
          <p:cNvSpPr/>
          <p:nvPr/>
        </p:nvSpPr>
        <p:spPr>
          <a:xfrm>
            <a:off x="53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41" name="Shape 339"/>
          <p:cNvSpPr/>
          <p:nvPr/>
        </p:nvSpPr>
        <p:spPr>
          <a:xfrm>
            <a:off x="69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2" name="Text 340"/>
          <p:cNvSpPr/>
          <p:nvPr/>
        </p:nvSpPr>
        <p:spPr>
          <a:xfrm>
            <a:off x="69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43" name="Shape 341"/>
          <p:cNvSpPr/>
          <p:nvPr/>
        </p:nvSpPr>
        <p:spPr>
          <a:xfrm>
            <a:off x="77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4" name="Text 342"/>
          <p:cNvSpPr/>
          <p:nvPr/>
        </p:nvSpPr>
        <p:spPr>
          <a:xfrm>
            <a:off x="77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45" name="Shape 343"/>
          <p:cNvSpPr/>
          <p:nvPr/>
        </p:nvSpPr>
        <p:spPr>
          <a:xfrm>
            <a:off x="320040" y="4059936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6" name="Shape 344"/>
          <p:cNvSpPr/>
          <p:nvPr/>
        </p:nvSpPr>
        <p:spPr>
          <a:xfrm>
            <a:off x="320040" y="4059936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47" name="Text 345"/>
          <p:cNvSpPr/>
          <p:nvPr/>
        </p:nvSpPr>
        <p:spPr>
          <a:xfrm>
            <a:off x="411480" y="40599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 denial prevention with audit trail</a:t>
            </a:r>
            <a:endParaRPr lang="en-US" sz="700" dirty="0"/>
          </a:p>
        </p:txBody>
      </p:sp>
      <p:sp>
        <p:nvSpPr>
          <p:cNvPr id="348" name="Shape 346"/>
          <p:cNvSpPr/>
          <p:nvPr/>
        </p:nvSpPr>
        <p:spPr>
          <a:xfrm>
            <a:off x="3520440" y="40599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9" name="Shape 347"/>
          <p:cNvSpPr/>
          <p:nvPr/>
        </p:nvSpPr>
        <p:spPr>
          <a:xfrm>
            <a:off x="3950208" y="40416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0" name="Text 348"/>
          <p:cNvSpPr/>
          <p:nvPr/>
        </p:nvSpPr>
        <p:spPr>
          <a:xfrm>
            <a:off x="3520440" y="40599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51" name="Shape 349"/>
          <p:cNvSpPr/>
          <p:nvPr/>
        </p:nvSpPr>
        <p:spPr>
          <a:xfrm>
            <a:off x="45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2" name="Text 350"/>
          <p:cNvSpPr/>
          <p:nvPr/>
        </p:nvSpPr>
        <p:spPr>
          <a:xfrm>
            <a:off x="45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53" name="Shape 351"/>
          <p:cNvSpPr/>
          <p:nvPr/>
        </p:nvSpPr>
        <p:spPr>
          <a:xfrm>
            <a:off x="53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4" name="Text 352"/>
          <p:cNvSpPr/>
          <p:nvPr/>
        </p:nvSpPr>
        <p:spPr>
          <a:xfrm>
            <a:off x="53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55" name="Shape 353"/>
          <p:cNvSpPr/>
          <p:nvPr/>
        </p:nvSpPr>
        <p:spPr>
          <a:xfrm>
            <a:off x="69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6" name="Shape 354"/>
          <p:cNvSpPr/>
          <p:nvPr/>
        </p:nvSpPr>
        <p:spPr>
          <a:xfrm>
            <a:off x="7337760" y="4114800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7" name="Shape 355"/>
          <p:cNvSpPr/>
          <p:nvPr/>
        </p:nvSpPr>
        <p:spPr>
          <a:xfrm>
            <a:off x="77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8" name="Text 356"/>
          <p:cNvSpPr/>
          <p:nvPr/>
        </p:nvSpPr>
        <p:spPr>
          <a:xfrm>
            <a:off x="77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59" name="Shape 357"/>
          <p:cNvSpPr/>
          <p:nvPr/>
        </p:nvSpPr>
        <p:spPr>
          <a:xfrm>
            <a:off x="320040" y="4169664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0" name="Text 358"/>
          <p:cNvSpPr/>
          <p:nvPr/>
        </p:nvSpPr>
        <p:spPr>
          <a:xfrm>
            <a:off x="429768" y="4169664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&amp; PATIENT JOURNEY</a:t>
            </a:r>
            <a:endParaRPr lang="en-US" sz="500" dirty="0"/>
          </a:p>
        </p:txBody>
      </p:sp>
      <p:sp>
        <p:nvSpPr>
          <p:cNvPr id="361" name="Shape 359"/>
          <p:cNvSpPr/>
          <p:nvPr/>
        </p:nvSpPr>
        <p:spPr>
          <a:xfrm>
            <a:off x="320040" y="4311396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2" name="Text 360"/>
          <p:cNvSpPr/>
          <p:nvPr/>
        </p:nvSpPr>
        <p:spPr>
          <a:xfrm>
            <a:off x="411480" y="431139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multilingual translation (patient ↔ clinician)</a:t>
            </a:r>
            <a:endParaRPr lang="en-US" sz="700" dirty="0"/>
          </a:p>
        </p:txBody>
      </p:sp>
      <p:sp>
        <p:nvSpPr>
          <p:cNvPr id="363" name="Shape 361"/>
          <p:cNvSpPr/>
          <p:nvPr/>
        </p:nvSpPr>
        <p:spPr>
          <a:xfrm>
            <a:off x="3520440" y="431139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4" name="Shape 362"/>
          <p:cNvSpPr/>
          <p:nvPr/>
        </p:nvSpPr>
        <p:spPr>
          <a:xfrm>
            <a:off x="3950208" y="429310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5" name="Text 363"/>
          <p:cNvSpPr/>
          <p:nvPr/>
        </p:nvSpPr>
        <p:spPr>
          <a:xfrm>
            <a:off x="3520440" y="431139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66" name="Shape 364"/>
          <p:cNvSpPr/>
          <p:nvPr/>
        </p:nvSpPr>
        <p:spPr>
          <a:xfrm>
            <a:off x="45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7" name="Text 365"/>
          <p:cNvSpPr/>
          <p:nvPr/>
        </p:nvSpPr>
        <p:spPr>
          <a:xfrm>
            <a:off x="45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68" name="Shape 366"/>
          <p:cNvSpPr/>
          <p:nvPr/>
        </p:nvSpPr>
        <p:spPr>
          <a:xfrm>
            <a:off x="53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9" name="Text 367"/>
          <p:cNvSpPr/>
          <p:nvPr/>
        </p:nvSpPr>
        <p:spPr>
          <a:xfrm>
            <a:off x="53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70" name="Shape 368"/>
          <p:cNvSpPr/>
          <p:nvPr/>
        </p:nvSpPr>
        <p:spPr>
          <a:xfrm>
            <a:off x="69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1" name="Text 369"/>
          <p:cNvSpPr/>
          <p:nvPr/>
        </p:nvSpPr>
        <p:spPr>
          <a:xfrm>
            <a:off x="69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72" name="Shape 370"/>
          <p:cNvSpPr/>
          <p:nvPr/>
        </p:nvSpPr>
        <p:spPr>
          <a:xfrm>
            <a:off x="77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3" name="Text 371"/>
          <p:cNvSpPr/>
          <p:nvPr/>
        </p:nvSpPr>
        <p:spPr>
          <a:xfrm>
            <a:off x="77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74" name="Shape 372"/>
          <p:cNvSpPr/>
          <p:nvPr/>
        </p:nvSpPr>
        <p:spPr>
          <a:xfrm>
            <a:off x="320040" y="4421124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5" name="Text 373"/>
          <p:cNvSpPr/>
          <p:nvPr/>
        </p:nvSpPr>
        <p:spPr>
          <a:xfrm>
            <a:off x="411480" y="442112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Transcription in 14+ languages</a:t>
            </a:r>
            <a:endParaRPr lang="en-US" sz="700" dirty="0"/>
          </a:p>
        </p:txBody>
      </p:sp>
      <p:sp>
        <p:nvSpPr>
          <p:cNvPr id="376" name="Shape 374"/>
          <p:cNvSpPr/>
          <p:nvPr/>
        </p:nvSpPr>
        <p:spPr>
          <a:xfrm>
            <a:off x="3520440" y="442112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7" name="Shape 375"/>
          <p:cNvSpPr/>
          <p:nvPr/>
        </p:nvSpPr>
        <p:spPr>
          <a:xfrm>
            <a:off x="3950208" y="440283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8" name="Text 376"/>
          <p:cNvSpPr/>
          <p:nvPr/>
        </p:nvSpPr>
        <p:spPr>
          <a:xfrm>
            <a:off x="3520440" y="442112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79" name="Shape 377"/>
          <p:cNvSpPr/>
          <p:nvPr/>
        </p:nvSpPr>
        <p:spPr>
          <a:xfrm>
            <a:off x="45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0" name="Shape 378"/>
          <p:cNvSpPr/>
          <p:nvPr/>
        </p:nvSpPr>
        <p:spPr>
          <a:xfrm>
            <a:off x="4956048" y="44028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1" name="Text 379"/>
          <p:cNvSpPr/>
          <p:nvPr/>
        </p:nvSpPr>
        <p:spPr>
          <a:xfrm>
            <a:off x="4526280" y="44211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82" name="Shape 380"/>
          <p:cNvSpPr/>
          <p:nvPr/>
        </p:nvSpPr>
        <p:spPr>
          <a:xfrm>
            <a:off x="53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3" name="Shape 381"/>
          <p:cNvSpPr/>
          <p:nvPr/>
        </p:nvSpPr>
        <p:spPr>
          <a:xfrm>
            <a:off x="5737760" y="447598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4" name="Shape 382"/>
          <p:cNvSpPr/>
          <p:nvPr/>
        </p:nvSpPr>
        <p:spPr>
          <a:xfrm>
            <a:off x="69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5" name="Shape 383"/>
          <p:cNvSpPr/>
          <p:nvPr/>
        </p:nvSpPr>
        <p:spPr>
          <a:xfrm>
            <a:off x="7337760" y="447598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6" name="Shape 384"/>
          <p:cNvSpPr/>
          <p:nvPr/>
        </p:nvSpPr>
        <p:spPr>
          <a:xfrm>
            <a:off x="77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7" name="Text 385"/>
          <p:cNvSpPr/>
          <p:nvPr/>
        </p:nvSpPr>
        <p:spPr>
          <a:xfrm>
            <a:off x="7726280" y="44211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88" name="Shape 386"/>
          <p:cNvSpPr/>
          <p:nvPr/>
        </p:nvSpPr>
        <p:spPr>
          <a:xfrm>
            <a:off x="320040" y="4530852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9" name="Text 387"/>
          <p:cNvSpPr/>
          <p:nvPr/>
        </p:nvSpPr>
        <p:spPr>
          <a:xfrm>
            <a:off x="411480" y="45308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patient comms &amp; follow-up automation</a:t>
            </a:r>
            <a:endParaRPr lang="en-US" sz="700" dirty="0"/>
          </a:p>
        </p:txBody>
      </p:sp>
      <p:sp>
        <p:nvSpPr>
          <p:cNvPr id="390" name="Shape 388"/>
          <p:cNvSpPr/>
          <p:nvPr/>
        </p:nvSpPr>
        <p:spPr>
          <a:xfrm>
            <a:off x="3520440" y="45308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1" name="Shape 389"/>
          <p:cNvSpPr/>
          <p:nvPr/>
        </p:nvSpPr>
        <p:spPr>
          <a:xfrm>
            <a:off x="3950208" y="45125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2" name="Text 390"/>
          <p:cNvSpPr/>
          <p:nvPr/>
        </p:nvSpPr>
        <p:spPr>
          <a:xfrm>
            <a:off x="3520440" y="45308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93" name="Shape 391"/>
          <p:cNvSpPr/>
          <p:nvPr/>
        </p:nvSpPr>
        <p:spPr>
          <a:xfrm>
            <a:off x="45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4" name="Shape 392"/>
          <p:cNvSpPr/>
          <p:nvPr/>
        </p:nvSpPr>
        <p:spPr>
          <a:xfrm>
            <a:off x="4956048" y="45125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5" name="Text 393"/>
          <p:cNvSpPr/>
          <p:nvPr/>
        </p:nvSpPr>
        <p:spPr>
          <a:xfrm>
            <a:off x="45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96" name="Shape 394"/>
          <p:cNvSpPr/>
          <p:nvPr/>
        </p:nvSpPr>
        <p:spPr>
          <a:xfrm>
            <a:off x="53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7" name="Text 395"/>
          <p:cNvSpPr/>
          <p:nvPr/>
        </p:nvSpPr>
        <p:spPr>
          <a:xfrm>
            <a:off x="53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98" name="Shape 396"/>
          <p:cNvSpPr/>
          <p:nvPr/>
        </p:nvSpPr>
        <p:spPr>
          <a:xfrm>
            <a:off x="69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9" name="Shape 397"/>
          <p:cNvSpPr/>
          <p:nvPr/>
        </p:nvSpPr>
        <p:spPr>
          <a:xfrm>
            <a:off x="7337760" y="45857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0" name="Shape 398"/>
          <p:cNvSpPr/>
          <p:nvPr/>
        </p:nvSpPr>
        <p:spPr>
          <a:xfrm>
            <a:off x="77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1" name="Text 399"/>
          <p:cNvSpPr/>
          <p:nvPr/>
        </p:nvSpPr>
        <p:spPr>
          <a:xfrm>
            <a:off x="77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02" name="Shape 400"/>
          <p:cNvSpPr/>
          <p:nvPr/>
        </p:nvSpPr>
        <p:spPr>
          <a:xfrm>
            <a:off x="320040" y="46405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3" name="Text 401"/>
          <p:cNvSpPr/>
          <p:nvPr/>
        </p:nvSpPr>
        <p:spPr>
          <a:xfrm>
            <a:off x="411480" y="46405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patient journey (booking → billing → continuity)</a:t>
            </a:r>
            <a:endParaRPr lang="en-US" sz="700" dirty="0"/>
          </a:p>
        </p:txBody>
      </p:sp>
      <p:sp>
        <p:nvSpPr>
          <p:cNvPr id="404" name="Shape 402"/>
          <p:cNvSpPr/>
          <p:nvPr/>
        </p:nvSpPr>
        <p:spPr>
          <a:xfrm>
            <a:off x="3520440" y="46405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5" name="Shape 403"/>
          <p:cNvSpPr/>
          <p:nvPr/>
        </p:nvSpPr>
        <p:spPr>
          <a:xfrm>
            <a:off x="3950208" y="46222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6" name="Text 404"/>
          <p:cNvSpPr/>
          <p:nvPr/>
        </p:nvSpPr>
        <p:spPr>
          <a:xfrm>
            <a:off x="3520440" y="46405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07" name="Shape 405"/>
          <p:cNvSpPr/>
          <p:nvPr/>
        </p:nvSpPr>
        <p:spPr>
          <a:xfrm>
            <a:off x="45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8" name="Shape 406"/>
          <p:cNvSpPr/>
          <p:nvPr/>
        </p:nvSpPr>
        <p:spPr>
          <a:xfrm>
            <a:off x="4937760" y="469544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9" name="Shape 407"/>
          <p:cNvSpPr/>
          <p:nvPr/>
        </p:nvSpPr>
        <p:spPr>
          <a:xfrm>
            <a:off x="53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0" name="Text 408"/>
          <p:cNvSpPr/>
          <p:nvPr/>
        </p:nvSpPr>
        <p:spPr>
          <a:xfrm>
            <a:off x="53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11" name="Shape 409"/>
          <p:cNvSpPr/>
          <p:nvPr/>
        </p:nvSpPr>
        <p:spPr>
          <a:xfrm>
            <a:off x="69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2" name="Text 410"/>
          <p:cNvSpPr/>
          <p:nvPr/>
        </p:nvSpPr>
        <p:spPr>
          <a:xfrm>
            <a:off x="69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13" name="Shape 411"/>
          <p:cNvSpPr/>
          <p:nvPr/>
        </p:nvSpPr>
        <p:spPr>
          <a:xfrm>
            <a:off x="77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4" name="Text 412"/>
          <p:cNvSpPr/>
          <p:nvPr/>
        </p:nvSpPr>
        <p:spPr>
          <a:xfrm>
            <a:off x="77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15" name="Shape 413"/>
          <p:cNvSpPr/>
          <p:nvPr/>
        </p:nvSpPr>
        <p:spPr>
          <a:xfrm>
            <a:off x="320040" y="4750308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6" name="Text 414"/>
          <p:cNvSpPr/>
          <p:nvPr/>
        </p:nvSpPr>
        <p:spPr>
          <a:xfrm>
            <a:off x="411480" y="47503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Cross-clinic physician discovery &amp; booking</a:t>
            </a:r>
            <a:endParaRPr lang="en-US" sz="700" dirty="0"/>
          </a:p>
        </p:txBody>
      </p:sp>
      <p:sp>
        <p:nvSpPr>
          <p:cNvPr id="417" name="Shape 415"/>
          <p:cNvSpPr/>
          <p:nvPr/>
        </p:nvSpPr>
        <p:spPr>
          <a:xfrm>
            <a:off x="3520440" y="47503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8" name="Shape 416"/>
          <p:cNvSpPr/>
          <p:nvPr/>
        </p:nvSpPr>
        <p:spPr>
          <a:xfrm>
            <a:off x="3950208" y="47320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9" name="Text 417"/>
          <p:cNvSpPr/>
          <p:nvPr/>
        </p:nvSpPr>
        <p:spPr>
          <a:xfrm>
            <a:off x="3520440" y="47503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20" name="Shape 418"/>
          <p:cNvSpPr/>
          <p:nvPr/>
        </p:nvSpPr>
        <p:spPr>
          <a:xfrm>
            <a:off x="45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1" name="Text 419"/>
          <p:cNvSpPr/>
          <p:nvPr/>
        </p:nvSpPr>
        <p:spPr>
          <a:xfrm>
            <a:off x="45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2" name="Shape 420"/>
          <p:cNvSpPr/>
          <p:nvPr/>
        </p:nvSpPr>
        <p:spPr>
          <a:xfrm>
            <a:off x="53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3" name="Text 421"/>
          <p:cNvSpPr/>
          <p:nvPr/>
        </p:nvSpPr>
        <p:spPr>
          <a:xfrm>
            <a:off x="53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4" name="Shape 422"/>
          <p:cNvSpPr/>
          <p:nvPr/>
        </p:nvSpPr>
        <p:spPr>
          <a:xfrm>
            <a:off x="69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5" name="Text 423"/>
          <p:cNvSpPr/>
          <p:nvPr/>
        </p:nvSpPr>
        <p:spPr>
          <a:xfrm>
            <a:off x="69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6" name="Shape 424"/>
          <p:cNvSpPr/>
          <p:nvPr/>
        </p:nvSpPr>
        <p:spPr>
          <a:xfrm>
            <a:off x="77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7" name="Text 425"/>
          <p:cNvSpPr/>
          <p:nvPr/>
        </p:nvSpPr>
        <p:spPr>
          <a:xfrm>
            <a:off x="77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8" name="Shape 426"/>
          <p:cNvSpPr/>
          <p:nvPr/>
        </p:nvSpPr>
        <p:spPr>
          <a:xfrm>
            <a:off x="320040" y="4860036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9" name="Text 427"/>
          <p:cNvSpPr/>
          <p:nvPr/>
        </p:nvSpPr>
        <p:spPr>
          <a:xfrm>
            <a:off x="411480" y="48600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Practice analytics &amp; reporting</a:t>
            </a:r>
            <a:endParaRPr lang="en-US" sz="700" dirty="0"/>
          </a:p>
        </p:txBody>
      </p:sp>
      <p:sp>
        <p:nvSpPr>
          <p:cNvPr id="430" name="Shape 428"/>
          <p:cNvSpPr/>
          <p:nvPr/>
        </p:nvSpPr>
        <p:spPr>
          <a:xfrm>
            <a:off x="3520440" y="48600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1" name="Shape 429"/>
          <p:cNvSpPr/>
          <p:nvPr/>
        </p:nvSpPr>
        <p:spPr>
          <a:xfrm>
            <a:off x="3950208" y="48417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2" name="Text 430"/>
          <p:cNvSpPr/>
          <p:nvPr/>
        </p:nvSpPr>
        <p:spPr>
          <a:xfrm>
            <a:off x="3520440" y="48600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33" name="Shape 431"/>
          <p:cNvSpPr/>
          <p:nvPr/>
        </p:nvSpPr>
        <p:spPr>
          <a:xfrm>
            <a:off x="45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4" name="Text 432"/>
          <p:cNvSpPr/>
          <p:nvPr/>
        </p:nvSpPr>
        <p:spPr>
          <a:xfrm>
            <a:off x="45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35" name="Shape 433"/>
          <p:cNvSpPr/>
          <p:nvPr/>
        </p:nvSpPr>
        <p:spPr>
          <a:xfrm>
            <a:off x="53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6" name="Text 434"/>
          <p:cNvSpPr/>
          <p:nvPr/>
        </p:nvSpPr>
        <p:spPr>
          <a:xfrm>
            <a:off x="53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37" name="Shape 435"/>
          <p:cNvSpPr/>
          <p:nvPr/>
        </p:nvSpPr>
        <p:spPr>
          <a:xfrm>
            <a:off x="69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8" name="Shape 436"/>
          <p:cNvSpPr/>
          <p:nvPr/>
        </p:nvSpPr>
        <p:spPr>
          <a:xfrm>
            <a:off x="7356048" y="4841748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9" name="Text 437"/>
          <p:cNvSpPr/>
          <p:nvPr/>
        </p:nvSpPr>
        <p:spPr>
          <a:xfrm>
            <a:off x="69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40" name="Shape 438"/>
          <p:cNvSpPr/>
          <p:nvPr/>
        </p:nvSpPr>
        <p:spPr>
          <a:xfrm>
            <a:off x="77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41" name="Text 439"/>
          <p:cNvSpPr/>
          <p:nvPr/>
        </p:nvSpPr>
        <p:spPr>
          <a:xfrm>
            <a:off x="77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60" name="Text 458"/>
          <p:cNvSpPr/>
          <p:nvPr/>
        </p:nvSpPr>
        <p:spPr>
          <a:xfrm>
            <a:off x="411480" y="522122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On-premise / private cloud deployment</a:t>
            </a:r>
            <a:endParaRPr lang="en-US" sz="700" dirty="0"/>
          </a:p>
        </p:txBody>
      </p:sp>
      <p:sp>
        <p:nvSpPr>
          <p:cNvPr id="474" name="Text 472"/>
          <p:cNvSpPr/>
          <p:nvPr/>
        </p:nvSpPr>
        <p:spPr>
          <a:xfrm>
            <a:off x="411480" y="53309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HIPAA compliant (SOC 2 / BAA)</a:t>
            </a:r>
            <a:endParaRPr lang="en-US" sz="700" dirty="0"/>
          </a:p>
        </p:txBody>
      </p:sp>
      <p:sp>
        <p:nvSpPr>
          <p:cNvPr id="491" name="Text 489"/>
          <p:cNvSpPr/>
          <p:nvPr/>
        </p:nvSpPr>
        <p:spPr>
          <a:xfrm>
            <a:off x="411480" y="54406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GDPR native (EU data residency)</a:t>
            </a:r>
            <a:endParaRPr lang="en-US" sz="700" dirty="0"/>
          </a:p>
        </p:txBody>
      </p:sp>
      <p:sp>
        <p:nvSpPr>
          <p:cNvPr id="506" name="Text 504"/>
          <p:cNvSpPr/>
          <p:nvPr/>
        </p:nvSpPr>
        <p:spPr>
          <a:xfrm>
            <a:off x="411480" y="55504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SIUI / CNAS integration (Romania)</a:t>
            </a:r>
            <a:endParaRPr lang="en-US" sz="700" dirty="0"/>
          </a:p>
        </p:txBody>
      </p:sp>
      <p:sp>
        <p:nvSpPr>
          <p:cNvPr id="509" name="Text 507"/>
          <p:cNvSpPr/>
          <p:nvPr/>
        </p:nvSpPr>
        <p:spPr>
          <a:xfrm>
            <a:off x="3520440" y="55504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20" name="Shape 34"/>
          <p:cNvSpPr/>
          <p:nvPr/>
        </p:nvSpPr>
        <p:spPr>
          <a:xfrm>
            <a:off x="61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1" name="Text 36"/>
          <p:cNvSpPr/>
          <p:nvPr/>
        </p:nvSpPr>
        <p:spPr>
          <a:xfrm>
            <a:off x="61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22" name="Shape 51"/>
          <p:cNvSpPr/>
          <p:nvPr/>
        </p:nvSpPr>
        <p:spPr>
          <a:xfrm>
            <a:off x="61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3" name="Text 53"/>
          <p:cNvSpPr/>
          <p:nvPr/>
        </p:nvSpPr>
        <p:spPr>
          <a:xfrm>
            <a:off x="61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24" name="Shape 65"/>
          <p:cNvSpPr/>
          <p:nvPr/>
        </p:nvSpPr>
        <p:spPr>
          <a:xfrm>
            <a:off x="61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5" name="Text 66"/>
          <p:cNvSpPr/>
          <p:nvPr/>
        </p:nvSpPr>
        <p:spPr>
          <a:xfrm>
            <a:off x="61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26" name="Shape 81"/>
          <p:cNvSpPr/>
          <p:nvPr/>
        </p:nvSpPr>
        <p:spPr>
          <a:xfrm>
            <a:off x="61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7" name="Text 83"/>
          <p:cNvSpPr/>
          <p:nvPr/>
        </p:nvSpPr>
        <p:spPr>
          <a:xfrm>
            <a:off x="61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28" name="Shape 97"/>
          <p:cNvSpPr/>
          <p:nvPr/>
        </p:nvSpPr>
        <p:spPr>
          <a:xfrm>
            <a:off x="61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9" name="Text 98"/>
          <p:cNvSpPr/>
          <p:nvPr/>
        </p:nvSpPr>
        <p:spPr>
          <a:xfrm>
            <a:off x="61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0" name="Shape 113"/>
          <p:cNvSpPr/>
          <p:nvPr/>
        </p:nvSpPr>
        <p:spPr>
          <a:xfrm>
            <a:off x="61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1" name="Text 114"/>
          <p:cNvSpPr/>
          <p:nvPr/>
        </p:nvSpPr>
        <p:spPr>
          <a:xfrm>
            <a:off x="61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2" name="Shape 127"/>
          <p:cNvSpPr/>
          <p:nvPr/>
        </p:nvSpPr>
        <p:spPr>
          <a:xfrm>
            <a:off x="61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3" name="Text 128"/>
          <p:cNvSpPr/>
          <p:nvPr/>
        </p:nvSpPr>
        <p:spPr>
          <a:xfrm>
            <a:off x="61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4" name="Shape 142"/>
          <p:cNvSpPr/>
          <p:nvPr/>
        </p:nvSpPr>
        <p:spPr>
          <a:xfrm>
            <a:off x="61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5" name="Text 143"/>
          <p:cNvSpPr/>
          <p:nvPr/>
        </p:nvSpPr>
        <p:spPr>
          <a:xfrm>
            <a:off x="6126280" y="21305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6" name="Shape 157"/>
          <p:cNvSpPr/>
          <p:nvPr/>
        </p:nvSpPr>
        <p:spPr>
          <a:xfrm>
            <a:off x="61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7" name="Text 158"/>
          <p:cNvSpPr/>
          <p:nvPr/>
        </p:nvSpPr>
        <p:spPr>
          <a:xfrm>
            <a:off x="61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8" name="Shape 170"/>
          <p:cNvSpPr/>
          <p:nvPr/>
        </p:nvSpPr>
        <p:spPr>
          <a:xfrm>
            <a:off x="61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9" name="Text 171"/>
          <p:cNvSpPr/>
          <p:nvPr/>
        </p:nvSpPr>
        <p:spPr>
          <a:xfrm>
            <a:off x="61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40" name="Shape 183"/>
          <p:cNvSpPr/>
          <p:nvPr/>
        </p:nvSpPr>
        <p:spPr>
          <a:xfrm>
            <a:off x="61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1" name="Text 184"/>
          <p:cNvSpPr/>
          <p:nvPr/>
        </p:nvSpPr>
        <p:spPr>
          <a:xfrm>
            <a:off x="61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42" name="Shape 197"/>
          <p:cNvSpPr/>
          <p:nvPr/>
        </p:nvSpPr>
        <p:spPr>
          <a:xfrm>
            <a:off x="61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3" name="Text 198"/>
          <p:cNvSpPr/>
          <p:nvPr/>
        </p:nvSpPr>
        <p:spPr>
          <a:xfrm>
            <a:off x="61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44" name="Shape 210"/>
          <p:cNvSpPr/>
          <p:nvPr/>
        </p:nvSpPr>
        <p:spPr>
          <a:xfrm>
            <a:off x="61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5" name="Text 212"/>
          <p:cNvSpPr/>
          <p:nvPr/>
        </p:nvSpPr>
        <p:spPr>
          <a:xfrm>
            <a:off x="61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46" name="Shape 223"/>
          <p:cNvSpPr/>
          <p:nvPr/>
        </p:nvSpPr>
        <p:spPr>
          <a:xfrm>
            <a:off x="61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7" name="Shape 240"/>
          <p:cNvSpPr/>
          <p:nvPr/>
        </p:nvSpPr>
        <p:spPr>
          <a:xfrm>
            <a:off x="61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8" name="Text 242"/>
          <p:cNvSpPr/>
          <p:nvPr/>
        </p:nvSpPr>
        <p:spPr>
          <a:xfrm>
            <a:off x="61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49" name="Shape 255"/>
          <p:cNvSpPr/>
          <p:nvPr/>
        </p:nvSpPr>
        <p:spPr>
          <a:xfrm>
            <a:off x="61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0" name="Text 256"/>
          <p:cNvSpPr/>
          <p:nvPr/>
        </p:nvSpPr>
        <p:spPr>
          <a:xfrm>
            <a:off x="61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1" name="Shape 269"/>
          <p:cNvSpPr/>
          <p:nvPr/>
        </p:nvSpPr>
        <p:spPr>
          <a:xfrm>
            <a:off x="61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2" name="Text 270"/>
          <p:cNvSpPr/>
          <p:nvPr/>
        </p:nvSpPr>
        <p:spPr>
          <a:xfrm>
            <a:off x="61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3" name="Shape 283"/>
          <p:cNvSpPr/>
          <p:nvPr/>
        </p:nvSpPr>
        <p:spPr>
          <a:xfrm>
            <a:off x="61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4" name="Text 284"/>
          <p:cNvSpPr/>
          <p:nvPr/>
        </p:nvSpPr>
        <p:spPr>
          <a:xfrm>
            <a:off x="61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5" name="Shape 297"/>
          <p:cNvSpPr/>
          <p:nvPr/>
        </p:nvSpPr>
        <p:spPr>
          <a:xfrm>
            <a:off x="61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6" name="Text 298"/>
          <p:cNvSpPr/>
          <p:nvPr/>
        </p:nvSpPr>
        <p:spPr>
          <a:xfrm>
            <a:off x="61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7" name="Shape 313"/>
          <p:cNvSpPr/>
          <p:nvPr/>
        </p:nvSpPr>
        <p:spPr>
          <a:xfrm>
            <a:off x="61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8" name="Text 314"/>
          <p:cNvSpPr/>
          <p:nvPr/>
        </p:nvSpPr>
        <p:spPr>
          <a:xfrm>
            <a:off x="61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9" name="Shape 327"/>
          <p:cNvSpPr/>
          <p:nvPr/>
        </p:nvSpPr>
        <p:spPr>
          <a:xfrm>
            <a:off x="61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0" name="Text 328"/>
          <p:cNvSpPr/>
          <p:nvPr/>
        </p:nvSpPr>
        <p:spPr>
          <a:xfrm>
            <a:off x="61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1" name="Shape 341"/>
          <p:cNvSpPr/>
          <p:nvPr/>
        </p:nvSpPr>
        <p:spPr>
          <a:xfrm>
            <a:off x="61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2" name="Text 342"/>
          <p:cNvSpPr/>
          <p:nvPr/>
        </p:nvSpPr>
        <p:spPr>
          <a:xfrm>
            <a:off x="61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3" name="Shape 355"/>
          <p:cNvSpPr/>
          <p:nvPr/>
        </p:nvSpPr>
        <p:spPr>
          <a:xfrm>
            <a:off x="61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4" name="Text 356"/>
          <p:cNvSpPr/>
          <p:nvPr/>
        </p:nvSpPr>
        <p:spPr>
          <a:xfrm>
            <a:off x="61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5" name="Shape 370"/>
          <p:cNvSpPr/>
          <p:nvPr/>
        </p:nvSpPr>
        <p:spPr>
          <a:xfrm>
            <a:off x="61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6" name="Text 371"/>
          <p:cNvSpPr/>
          <p:nvPr/>
        </p:nvSpPr>
        <p:spPr>
          <a:xfrm>
            <a:off x="61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7" name="Shape 384"/>
          <p:cNvSpPr/>
          <p:nvPr/>
        </p:nvSpPr>
        <p:spPr>
          <a:xfrm>
            <a:off x="61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8" name="Text 385"/>
          <p:cNvSpPr/>
          <p:nvPr/>
        </p:nvSpPr>
        <p:spPr>
          <a:xfrm>
            <a:off x="6126280" y="44211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9" name="Shape 398"/>
          <p:cNvSpPr/>
          <p:nvPr/>
        </p:nvSpPr>
        <p:spPr>
          <a:xfrm>
            <a:off x="61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0" name="Text 399"/>
          <p:cNvSpPr/>
          <p:nvPr/>
        </p:nvSpPr>
        <p:spPr>
          <a:xfrm>
            <a:off x="61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71" name="Shape 411"/>
          <p:cNvSpPr/>
          <p:nvPr/>
        </p:nvSpPr>
        <p:spPr>
          <a:xfrm>
            <a:off x="61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2" name="Text 412"/>
          <p:cNvSpPr/>
          <p:nvPr/>
        </p:nvSpPr>
        <p:spPr>
          <a:xfrm>
            <a:off x="61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73" name="Shape 424"/>
          <p:cNvSpPr/>
          <p:nvPr/>
        </p:nvSpPr>
        <p:spPr>
          <a:xfrm>
            <a:off x="61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4" name="Text 425"/>
          <p:cNvSpPr/>
          <p:nvPr/>
        </p:nvSpPr>
        <p:spPr>
          <a:xfrm>
            <a:off x="61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75" name="Shape 438"/>
          <p:cNvSpPr/>
          <p:nvPr/>
        </p:nvSpPr>
        <p:spPr>
          <a:xfrm>
            <a:off x="61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6" name="Text 439"/>
          <p:cNvSpPr/>
          <p:nvPr/>
        </p:nvSpPr>
        <p:spPr>
          <a:xfrm>
            <a:off x="61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87" name="Text 17"/>
          <p:cNvSpPr/>
          <p:nvPr/>
        </p:nvSpPr>
        <p:spPr>
          <a:xfrm>
            <a:off x="61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Nabla</a:t>
            </a:r>
            <a:endParaRPr lang="en-US" sz="700" dirty="0"/>
          </a:p>
        </p:txBody>
      </p:sp>
      <p:sp>
        <p:nvSpPr>
          <p:cNvPr id="589" name="Shape 32">
            <a:extLst>
              <a:ext uri="{FF2B5EF4-FFF2-40B4-BE49-F238E27FC236}">
                <a16:creationId xmlns:a16="http://schemas.microsoft.com/office/drawing/2014/main" id="{0676664D-76F1-F269-1E54-39B3DF51D16E}"/>
              </a:ext>
            </a:extLst>
          </p:cNvPr>
          <p:cNvSpPr/>
          <p:nvPr/>
        </p:nvSpPr>
        <p:spPr>
          <a:xfrm>
            <a:off x="3606404" y="21945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SaaS per-clinician licensing — revenue starts Day 1 with Starter and Professional.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2880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2880360" cy="73152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2240280" y="1243584"/>
            <a:ext cx="1005840" cy="237744"/>
          </a:xfrm>
          <a:prstGeom prst="rect">
            <a:avLst/>
          </a:prstGeom>
          <a:solidFill>
            <a:srgbClr val="5A7D8C">
              <a:alpha val="12000"/>
            </a:srgbClr>
          </a:solidFill>
          <a:ln w="12700">
            <a:solidFill>
              <a:srgbClr val="5A7D8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2240280" y="12435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13232" y="1261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6093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7D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€49–99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3232" y="20756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/clinician/month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Live transcription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72491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2 languages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07238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SOAP notes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41985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PDF export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Diagnostic criteria alerts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Email support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3028" y="918972"/>
            <a:ext cx="2935224" cy="3771900"/>
          </a:xfrm>
          <a:prstGeom prst="rect">
            <a:avLst/>
          </a:prstGeom>
          <a:solidFill>
            <a:srgbClr val="4ECDC4">
              <a:alpha val="12000"/>
            </a:srgbClr>
          </a:solidFill>
          <a:ln w="19050">
            <a:solidFill>
              <a:srgbClr val="4ECD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3634740" y="9829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89604" y="1165860"/>
            <a:ext cx="2880360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21" name="Shape 19"/>
          <p:cNvSpPr/>
          <p:nvPr/>
        </p:nvSpPr>
        <p:spPr>
          <a:xfrm>
            <a:off x="3666744" y="1165860"/>
            <a:ext cx="288036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2" name="Shape 20"/>
          <p:cNvSpPr/>
          <p:nvPr/>
        </p:nvSpPr>
        <p:spPr>
          <a:xfrm>
            <a:off x="5372100" y="1202436"/>
            <a:ext cx="1005840" cy="237744"/>
          </a:xfrm>
          <a:prstGeom prst="rect">
            <a:avLst/>
          </a:prstGeom>
          <a:solidFill>
            <a:srgbClr val="4ECDC4">
              <a:alpha val="12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Text 21"/>
          <p:cNvSpPr/>
          <p:nvPr/>
        </p:nvSpPr>
        <p:spPr>
          <a:xfrm>
            <a:off x="5372100" y="12024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5052" y="12207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45052" y="1568196"/>
            <a:ext cx="2040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€149–199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845052" y="20345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/clinician/month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63340" y="233629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Everything in Starter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63340" y="268376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Unlimited languages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63340" y="303123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Live translation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63340" y="337870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Clinical Copilot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63340" y="372618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Protocol compliance engine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63340" y="407365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EMR integration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63340" y="442112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Priority support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1170432"/>
            <a:ext cx="2029968" cy="3470148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5" name="Shape 33"/>
          <p:cNvSpPr/>
          <p:nvPr/>
        </p:nvSpPr>
        <p:spPr>
          <a:xfrm>
            <a:off x="6784848" y="1170432"/>
            <a:ext cx="2029968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Text 34"/>
          <p:cNvSpPr/>
          <p:nvPr/>
        </p:nvSpPr>
        <p:spPr>
          <a:xfrm>
            <a:off x="6903720" y="12801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160934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pricing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contract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03720" y="2084832"/>
            <a:ext cx="1755648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6903720" y="2084832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 — post traction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903720" y="243230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On-premise deployment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03720" y="2779776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SSO / SAML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03720" y="3127248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Custom glossaries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03720" y="34747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SIUI/CNAM/GKV integration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03720" y="382219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SLA guarantee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7503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F/ai Revenue Path: France 50 clinics × €70 = €3.5K MRR (Mo.2) → +UK 60 × £70 → +Germany 60 × €80 → +Romania 100 CMIs × €50 → 250+ providers = €1M ARR at Month 6 Deal Day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Path to market — and to €1M ARR by F/ai Deal Day.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2029968" cy="73152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914400" cy="219456"/>
          </a:xfrm>
          <a:prstGeom prst="rect">
            <a:avLst/>
          </a:prstGeom>
          <a:solidFill>
            <a:srgbClr val="81B29A">
              <a:alpha val="20000"/>
            </a:srgbClr>
          </a:solidFill>
          <a:ln w="12700">
            <a:solidFill>
              <a:srgbClr val="81B2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1B29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ASR integration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Multilingual transcription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Basic SOAP notes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Demo mode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Source traceability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23744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7" name="Shape 15"/>
          <p:cNvSpPr/>
          <p:nvPr/>
        </p:nvSpPr>
        <p:spPr>
          <a:xfrm>
            <a:off x="2523744" y="1051560"/>
            <a:ext cx="2029968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Shape 16"/>
          <p:cNvSpPr/>
          <p:nvPr/>
        </p:nvSpPr>
        <p:spPr>
          <a:xfrm>
            <a:off x="2633472" y="1207008"/>
            <a:ext cx="914400" cy="219456"/>
          </a:xfrm>
          <a:prstGeom prst="rect">
            <a:avLst/>
          </a:pr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2633472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651760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DC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Live Clinical Copilot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Real-time translation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51760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Diagnostic criteria engine (ICD-10/DSM)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51760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Patient summaries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51760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Protocol compliance (COCA/CCAM)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0016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28" name="Shape 26"/>
          <p:cNvSpPr/>
          <p:nvPr/>
        </p:nvSpPr>
        <p:spPr>
          <a:xfrm>
            <a:off x="4700016" y="1051560"/>
            <a:ext cx="2029968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Shape 27"/>
          <p:cNvSpPr/>
          <p:nvPr/>
        </p:nvSpPr>
        <p:spPr>
          <a:xfrm>
            <a:off x="4809744" y="1207008"/>
            <a:ext cx="914400" cy="219456"/>
          </a:xfrm>
          <a:prstGeom prst="rect">
            <a:avLst/>
          </a:prstGeom>
          <a:solidFill>
            <a:srgbClr val="C9A96E">
              <a:alpha val="20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4809744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28032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(F/ai Sep)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28032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Claims Protection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28032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Insurance code validation per market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8032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SIUI / CNAM / GKV billing integration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28032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Prescription protocol enforcement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8032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Audit trail per payer requirement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28032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EMR / FHIR integration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76288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39" name="Shape 37"/>
          <p:cNvSpPr/>
          <p:nvPr/>
        </p:nvSpPr>
        <p:spPr>
          <a:xfrm>
            <a:off x="6876288" y="1051560"/>
            <a:ext cx="2029968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0" name="Shape 38"/>
          <p:cNvSpPr/>
          <p:nvPr/>
        </p:nvSpPr>
        <p:spPr>
          <a:xfrm>
            <a:off x="6986016" y="1207008"/>
            <a:ext cx="914400" cy="219456"/>
          </a:xfrm>
          <a:prstGeom prst="rect">
            <a:avLst/>
          </a:prstGeom>
          <a:solidFill>
            <a:srgbClr val="C9A96E">
              <a:alpha val="20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1" name="Text 39"/>
          <p:cNvSpPr/>
          <p:nvPr/>
        </p:nvSpPr>
        <p:spPr>
          <a:xfrm>
            <a:off x="6986016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004304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(Deal Day)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04304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Scale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04304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On-premise deployment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04304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Specialty models (psychiatry, cardiology)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04304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API marketplace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04304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Institutional learning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04304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Hospital group enterprise deals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Early validation from practicing physicians — not desk research.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499616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73152" cy="14996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66928" y="106070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VALIDATION SESSION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6928" y="12801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Traian — Senior Psychiatrist, 10+ years · Romania · 5 March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554480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"There are 15,000 free transcription tools. The selling point is diagnostic accuracy — if it gets the diagnosis right, treatment will be right too. That's the differentiator."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4114800" cy="233172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502920" y="27066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✓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3035808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Diagnostic accuracy is the #1 selling point — not transcription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Text 13"/>
          <p:cNvSpPr/>
          <p:nvPr/>
        </p:nvSpPr>
        <p:spPr>
          <a:xfrm>
            <a:off x="640080" y="3328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ICD/DSM time criteria (6-month rule for GAD) are routinely missed by AI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3694176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 protocol errors cost physicians the entire prescription value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4023360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640080" y="39867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Sick note errors: €5,000 fine per error (CNAS enforcement)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4352544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Text 19"/>
          <p:cNvSpPr/>
          <p:nvPr/>
        </p:nvSpPr>
        <p:spPr>
          <a:xfrm>
            <a:off x="640080" y="43159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Maudsley &amp; CANMAT as the gold-standard clinical protocol references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4681728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Text 21"/>
          <p:cNvSpPr/>
          <p:nvPr/>
        </p:nvSpPr>
        <p:spPr>
          <a:xfrm>
            <a:off x="640080" y="46451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Private clinics &amp; CMIs are the right first target — admin-heavy, fee-at-risk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2633472"/>
            <a:ext cx="4114800" cy="233172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5" name="Text 23"/>
          <p:cNvSpPr/>
          <p:nvPr/>
        </p:nvSpPr>
        <p:spPr>
          <a:xfrm>
            <a:off x="4800600" y="27066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 (Roadmap Input)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00600" y="3035808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4937760" y="29992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Transcription lag under fast speech (anxious patients speak quickly)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00600" y="3364992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Text 27"/>
          <p:cNvSpPr/>
          <p:nvPr/>
        </p:nvSpPr>
        <p:spPr>
          <a:xfrm>
            <a:off x="4937760" y="3328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not enforcing ICD-10 time criteria — must be hard-wired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00600" y="3694176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1" name="Text 29"/>
          <p:cNvSpPr/>
          <p:nvPr/>
        </p:nvSpPr>
        <p:spPr>
          <a:xfrm>
            <a:off x="4937760" y="3657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SIUI / CNAS integration: prescription reporting and claim sync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00600" y="4023360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4937760" y="39867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COCA protocol filters: prescription must match exact approved indication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4352544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5" name="Text 33"/>
          <p:cNvSpPr/>
          <p:nvPr/>
        </p:nvSpPr>
        <p:spPr>
          <a:xfrm>
            <a:off x="4937760" y="43159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Environmental microphone needed for clinical ambient capture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00600" y="4681728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Text 35"/>
          <p:cNvSpPr/>
          <p:nvPr/>
        </p:nvSpPr>
        <p:spPr>
          <a:xfrm>
            <a:off x="4937760" y="46451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Traian offered to continue as clinical advisor (monthly sessions)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457200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15568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advisor sessions completed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33472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91840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Physician markets consulted (RO · UK · IL · AU)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9744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68112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product — full patient journey built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86016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44384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Pursuing: Traian (RO) &amp; 2 private clinics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4">
            <a:extLst>
              <a:ext uri="{FF2B5EF4-FFF2-40B4-BE49-F238E27FC236}">
                <a16:creationId xmlns:a16="http://schemas.microsoft.com/office/drawing/2014/main" id="{C71ECDF2-DC8C-597C-0369-152B605D676C}"/>
              </a:ext>
            </a:extLst>
          </p:cNvPr>
          <p:cNvSpPr/>
          <p:nvPr/>
        </p:nvSpPr>
        <p:spPr>
          <a:xfrm>
            <a:off x="0" y="2487168"/>
            <a:ext cx="8412480" cy="107899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HIRING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Who's building Levio — and who we're hiring first.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TEAM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1293013"/>
            <a:ext cx="8412480" cy="107899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512064" y="1444752"/>
            <a:ext cx="457200" cy="457200"/>
          </a:xfrm>
          <a:prstGeom prst="ellipse">
            <a:avLst/>
          </a:prstGeom>
          <a:solidFill>
            <a:srgbClr val="1B3A4B">
              <a:alpha val="12000"/>
            </a:srgbClr>
          </a:solidFill>
          <a:ln w="12700">
            <a:solidFill>
              <a:srgbClr val="1B3A4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512064" y="1444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2416" y="14081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Pirjol, MBA, MSc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168249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Co-Founder &amp; CEO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42416" y="19110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Gates Cambridge · Fulbright · AstraZeneca (4 ventures) · EU Innovation Council Expert · $20M World Bank Trust Fund portfolio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522976" y="14813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522976" y="168249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Vision · product strategy · clinical validation · fundraising · market entry. Life-science and healthcare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" y="2651760"/>
            <a:ext cx="457200" cy="4572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512064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2416" y="2615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Ștefan Boronea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288950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Co-Founder &amp; CTO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42416" y="311810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Entrepreneur First alumni (London). Co-founded Proportunity — ML-driven real estate (9+ yrs). Former Security Team Lead at Booking.com (3 yrs). IEEE &amp; ACM member.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22976" y="26883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522976" y="2889504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architecture · AI/ML infrastructure · product development · security &amp; compliance. AI/ Deep tech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65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PLAN — with F/ai funding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2706624" cy="1005840"/>
          </a:xfrm>
          <a:prstGeom prst="rect">
            <a:avLst/>
          </a:prstGeom>
          <a:solidFill>
            <a:srgbClr val="F5F3F0"/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Shape 24"/>
          <p:cNvSpPr/>
          <p:nvPr/>
        </p:nvSpPr>
        <p:spPr>
          <a:xfrm>
            <a:off x="365760" y="4078224"/>
            <a:ext cx="2706624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PRIORITY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737360" y="41513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Immediately — pre-close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57200" y="435254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Co-Founder / CMO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64515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Physician with digital health experience · protocol validation · equity partner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0" y="4078224"/>
            <a:ext cx="2706624" cy="1005840"/>
          </a:xfrm>
          <a:prstGeom prst="rect">
            <a:avLst/>
          </a:prstGeom>
          <a:solidFill>
            <a:srgbClr val="F5F3F0"/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Shape 30"/>
          <p:cNvSpPr/>
          <p:nvPr/>
        </p:nvSpPr>
        <p:spPr>
          <a:xfrm>
            <a:off x="3200400" y="4078224"/>
            <a:ext cx="2706624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329184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PRIORITY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0" y="41513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 2–3 post-funding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291840" y="435254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Engineer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464515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EHR/FHIR integration experience · SIUI/CNAM API knowledge a plus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35040" y="4078224"/>
            <a:ext cx="2706624" cy="1005840"/>
          </a:xfrm>
          <a:prstGeom prst="rect">
            <a:avLst/>
          </a:prstGeom>
          <a:solidFill>
            <a:srgbClr val="F5F3F0"/>
          </a:solidFill>
          <a:ln w="12700">
            <a:solidFill>
              <a:srgbClr val="5A7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8" name="Shape 36"/>
          <p:cNvSpPr/>
          <p:nvPr/>
        </p:nvSpPr>
        <p:spPr>
          <a:xfrm>
            <a:off x="6035040" y="4078224"/>
            <a:ext cx="2706624" cy="54864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612648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A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PRIORITY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406640" y="41513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 3–4 post-funding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126480" y="435254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Ops / Customer Success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26480" y="464515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Healthcare background · French or Romanian market · clinic onboarding experience</a:t>
            </a:r>
            <a:endParaRPr lang="en-US" sz="750" dirty="0"/>
          </a:p>
        </p:txBody>
      </p:sp>
      <p:pic>
        <p:nvPicPr>
          <p:cNvPr id="44" name="Picture 43" descr="A person smiling at camera&#10;&#10;AI-generated content may be incorrect.">
            <a:extLst>
              <a:ext uri="{FF2B5EF4-FFF2-40B4-BE49-F238E27FC236}">
                <a16:creationId xmlns:a16="http://schemas.microsoft.com/office/drawing/2014/main" id="{0A4E200C-DD14-88B7-54FC-174E0B511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3640"/>
            <a:ext cx="585216" cy="578896"/>
          </a:xfrm>
          <a:prstGeom prst="rect">
            <a:avLst/>
          </a:prstGeom>
        </p:spPr>
      </p:pic>
      <p:pic>
        <p:nvPicPr>
          <p:cNvPr id="46" name="Picture 45" descr="A person smiling for the camera&#10;&#10;AI-generated content may be incorrect.">
            <a:extLst>
              <a:ext uri="{FF2B5EF4-FFF2-40B4-BE49-F238E27FC236}">
                <a16:creationId xmlns:a16="http://schemas.microsoft.com/office/drawing/2014/main" id="{2D2F3896-486F-E47D-E0BD-9F6054F80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33472"/>
            <a:ext cx="585216" cy="585216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2D48C7B4-125A-4070-5854-092455B1B38D}"/>
              </a:ext>
            </a:extLst>
          </p:cNvPr>
          <p:cNvGrpSpPr/>
          <p:nvPr/>
        </p:nvGrpSpPr>
        <p:grpSpPr>
          <a:xfrm>
            <a:off x="2461453" y="1408439"/>
            <a:ext cx="2878643" cy="372250"/>
            <a:chOff x="2476609" y="1418458"/>
            <a:chExt cx="2878643" cy="372250"/>
          </a:xfrm>
        </p:grpSpPr>
        <p:pic>
          <p:nvPicPr>
            <p:cNvPr id="49" name="Picture 2" descr="University of Cambridge Logo - PNG and Vector - Logo Download">
              <a:extLst>
                <a:ext uri="{FF2B5EF4-FFF2-40B4-BE49-F238E27FC236}">
                  <a16:creationId xmlns:a16="http://schemas.microsoft.com/office/drawing/2014/main" id="{8815862B-77C1-7831-A47F-B34C4573AF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609" y="1437124"/>
              <a:ext cx="381583" cy="353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4" descr="€2.42 million grant by European Innovation Council (EIC)">
              <a:extLst>
                <a:ext uri="{FF2B5EF4-FFF2-40B4-BE49-F238E27FC236}">
                  <a16:creationId xmlns:a16="http://schemas.microsoft.com/office/drawing/2014/main" id="{4189283A-A081-EE01-59DB-61B8A27923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2824" y="1421310"/>
              <a:ext cx="468000" cy="263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10" descr="Sandoz breaks ground on biosimilar plant in Slovenia">
              <a:extLst>
                <a:ext uri="{FF2B5EF4-FFF2-40B4-BE49-F238E27FC236}">
                  <a16:creationId xmlns:a16="http://schemas.microsoft.com/office/drawing/2014/main" id="{94B3C667-05D1-40CE-9AB2-CF39F9CB64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0841" y="1418458"/>
              <a:ext cx="468000" cy="277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2" descr="IQVIA Romania | IQVIA">
              <a:extLst>
                <a:ext uri="{FF2B5EF4-FFF2-40B4-BE49-F238E27FC236}">
                  <a16:creationId xmlns:a16="http://schemas.microsoft.com/office/drawing/2014/main" id="{19631598-BF96-2F7C-D91F-352FEE3B3F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7252" y="1429433"/>
              <a:ext cx="468000" cy="255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8" descr="AstraZeneca Logo and symbol, meaning, history, PNG, brand">
              <a:extLst>
                <a:ext uri="{FF2B5EF4-FFF2-40B4-BE49-F238E27FC236}">
                  <a16:creationId xmlns:a16="http://schemas.microsoft.com/office/drawing/2014/main" id="{3C31323D-4A6F-25F3-4021-264EE585C8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347"/>
            <a:stretch>
              <a:fillRect/>
            </a:stretch>
          </p:blipFill>
          <p:spPr bwMode="auto">
            <a:xfrm>
              <a:off x="2873427" y="1466039"/>
              <a:ext cx="468000" cy="197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6">
              <a:extLst>
                <a:ext uri="{FF2B5EF4-FFF2-40B4-BE49-F238E27FC236}">
                  <a16:creationId xmlns:a16="http://schemas.microsoft.com/office/drawing/2014/main" id="{9C6A9DD7-7170-0520-A419-FBF752076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0824" y="1423745"/>
              <a:ext cx="468000" cy="272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Proportunity - Brilliant Solutions">
            <a:extLst>
              <a:ext uri="{FF2B5EF4-FFF2-40B4-BE49-F238E27FC236}">
                <a16:creationId xmlns:a16="http://schemas.microsoft.com/office/drawing/2014/main" id="{7EC1B46A-E371-9AC0-EDC5-B093754F6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858" y="2616710"/>
            <a:ext cx="468000" cy="30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oking.Com logo and symbol, meaning, history, PNG">
            <a:extLst>
              <a:ext uri="{FF2B5EF4-FFF2-40B4-BE49-F238E27FC236}">
                <a16:creationId xmlns:a16="http://schemas.microsoft.com/office/drawing/2014/main" id="{D4A897AF-89BB-EEAC-5B77-46A23D296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510" y="2565504"/>
            <a:ext cx="580139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ntrepreneurs First - Wikipedia">
            <a:extLst>
              <a:ext uri="{FF2B5EF4-FFF2-40B4-BE49-F238E27FC236}">
                <a16:creationId xmlns:a16="http://schemas.microsoft.com/office/drawing/2014/main" id="{BA54EED5-A39A-282E-1933-34F6670F1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711" y="254413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rporate identity - Vrije Universiteit Amsterdam">
            <a:extLst>
              <a:ext uri="{FF2B5EF4-FFF2-40B4-BE49-F238E27FC236}">
                <a16:creationId xmlns:a16="http://schemas.microsoft.com/office/drawing/2014/main" id="{4CC910EC-34E1-05E6-9C92-EB5A3381B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017" y="2625981"/>
            <a:ext cx="468000" cy="27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F · F/ai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Built for F/ai. Designed to reach €1M in 6 months.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493776" y="10607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AI-native with strong technical foundations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3776" y="13350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Diagnostic criteria enforcement engine trained on ICD-10/DSM/COCA/CCAM validation rules — the AI is the moat, not a wrapper on a transcription API.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98424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Shape 8"/>
          <p:cNvSpPr/>
          <p:nvPr/>
        </p:nvSpPr>
        <p:spPr>
          <a:xfrm>
            <a:off x="347472" y="198424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493776" y="20208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 path to €1M revenue in 6 months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" y="22951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France (CNAM compliance urgency post-2023 law) → UK private clinics → Germany OPS moat → Romania CMIs. 250 providers × €70 avg = €1M ARR at Deal Day.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94436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Shape 12"/>
          <p:cNvSpPr/>
          <p:nvPr/>
        </p:nvSpPr>
        <p:spPr>
          <a:xfrm>
            <a:off x="347472" y="294436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Text 13"/>
          <p:cNvSpPr/>
          <p:nvPr/>
        </p:nvSpPr>
        <p:spPr>
          <a:xfrm>
            <a:off x="493776" y="2980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 globally competitive companies from Europe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" y="32552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Paris base → CNAM + French hospital group access. 5-market protocol engine from day one. EU-first architecture with US scale pathway.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90448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Shape 16"/>
          <p:cNvSpPr/>
          <p:nvPr/>
        </p:nvSpPr>
        <p:spPr>
          <a:xfrm>
            <a:off x="347472" y="390448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493776" y="39410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 ready for commercialisation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" y="42153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MVP validated with practicing physicians. Traian session (March 2026) identified and prioritised the diagnostic accuracy + claims protection roadmap.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987552"/>
            <a:ext cx="3337560" cy="2359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2" name="Text 20"/>
          <p:cNvSpPr/>
          <p:nvPr/>
        </p:nvSpPr>
        <p:spPr>
          <a:xfrm>
            <a:off x="5623560" y="106070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F/ai PARTNER RELEVANCE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50992" y="13898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Anthropic — AI safety &amp; clinical compliance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50992" y="170078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Microsoft Azure — HIPAA/GDPR-eligible cloud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50992" y="20116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Mistral AI — French language sovereignty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50992" y="232257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AWS — HIPAA-eligible infrastructure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50992" y="26334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Hugging Face — open-source medical models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50992" y="29443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Sequoia / General Catalyst / Kima — investor access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0" y="3401568"/>
            <a:ext cx="3337560" cy="1517904"/>
          </a:xfrm>
          <a:prstGeom prst="rect">
            <a:avLst/>
          </a:prstGeom>
          <a:solidFill>
            <a:srgbClr val="4ECDC4">
              <a:alpha val="8000"/>
            </a:srgbClr>
          </a:solidFill>
          <a:ln w="19050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5623560" y="34747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DAY TARGET — APRIL 2027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23560" y="376732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Levio's F/ai Deal Day partnership target: Ramsay Santé or Elsan (French hospital groups) + a Romanian private clinic chain. Both represent the home-market institutional validation that unlocks UK/DE/US scale.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we need from Station F F/ai.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 is at a critical inflection point: product validated, technology proven, founder-market fit established. F/ai will accelerate our path from MVP to €1M ARR.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30352" y="166420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[Brain]  Mentorship &amp; Network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02996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 to healthcare industry mentors, hospital CIOs, and clinical champions. Psychiatry + cardiology specialist advisors for protocol engine refinement (Traian identified this gap directly).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536192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4919472" y="166420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[Money]  Funding &amp; Resources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202996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Seed capital for cloud infrastructure, ASR/LLM API costs during pilot phase, and go-to-market in France, UK, Germany, Romania. Compute credits via F/ai partner network (AWS, Azure, Anthropic).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3" name="Text 11"/>
          <p:cNvSpPr/>
          <p:nvPr/>
        </p:nvSpPr>
        <p:spPr>
          <a:xfrm>
            <a:off x="530352" y="3273552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[Hospital]  Customer Introductions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639312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Warm introductions to French private hospital groups (Ramsay Santé, Elsan), UK private clinics, German specialist practices, and Romanian clinic chains. Deal Day as commercial activation moment.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3145536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6" name="Text 14"/>
          <p:cNvSpPr/>
          <p:nvPr/>
        </p:nvSpPr>
        <p:spPr>
          <a:xfrm>
            <a:off x="4919472" y="3273552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[Map]  Go-to-Market 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3639312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Guidance on enterprise sales cycles in healthcare, regulatory navigation (HIPAA/GDPR/DSPT/CNAM), insurance system integration priorities, and pricing optimisation per market.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4ECDC4">
              <a:alpha val="8000"/>
            </a:srgbClr>
          </a:solidFill>
          <a:ln w="12700">
            <a:solidFill>
              <a:srgbClr val="4ECDC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" name="Shape 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" name="Shape 3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9" name="Shape 7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Shape 8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Shape 9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2" name="Shape 10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Shape 11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Shape 13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6" name="Shape 14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Shape 16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Shape 17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Shape 18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Text 19"/>
          <p:cNvSpPr/>
          <p:nvPr/>
        </p:nvSpPr>
        <p:spPr>
          <a:xfrm>
            <a:off x="3200400" y="1005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levio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 lighten your burden. In every language. In every system.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2514600"/>
            <a:ext cx="1426464" cy="347472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Text 22"/>
          <p:cNvSpPr/>
          <p:nvPr/>
        </p:nvSpPr>
        <p:spPr>
          <a:xfrm>
            <a:off x="640080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 ICD-10-CM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31136" y="2514600"/>
            <a:ext cx="1426464" cy="347472"/>
          </a:xfrm>
          <a:prstGeom prst="rect">
            <a:avLst/>
          </a:prstGeom>
          <a:solidFill>
            <a:srgbClr val="C92A2A">
              <a:alpha val="12000"/>
            </a:srgbClr>
          </a:solidFill>
          <a:ln w="12700">
            <a:solidFill>
              <a:srgbClr val="C92A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Text 24"/>
          <p:cNvSpPr/>
          <p:nvPr/>
        </p:nvSpPr>
        <p:spPr>
          <a:xfrm>
            <a:off x="2231136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 SNOMED 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22192" y="2514600"/>
            <a:ext cx="1426464" cy="347472"/>
          </a:xfrm>
          <a:prstGeom prst="rect">
            <a:avLst/>
          </a:prstGeom>
          <a:solidFill>
            <a:srgbClr val="1971C2">
              <a:alpha val="12000"/>
            </a:srgbClr>
          </a:solidFill>
          <a:ln w="12700">
            <a:solidFill>
              <a:srgbClr val="1971C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" name="Text 26"/>
          <p:cNvSpPr/>
          <p:nvPr/>
        </p:nvSpPr>
        <p:spPr>
          <a:xfrm>
            <a:off x="3822192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 CCAM/CNAM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13248" y="2514600"/>
            <a:ext cx="1426464" cy="347472"/>
          </a:xfrm>
          <a:prstGeom prst="rect">
            <a:avLst/>
          </a:prstGeom>
          <a:solidFill>
            <a:srgbClr val="2B8A3E">
              <a:alpha val="12000"/>
            </a:srgbClr>
          </a:solidFill>
          <a:ln w="12700">
            <a:solidFill>
              <a:srgbClr val="2B8A3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5413248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ICD-10-GM/OPS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04304" y="2514600"/>
            <a:ext cx="1426464" cy="347472"/>
          </a:xfrm>
          <a:prstGeom prst="rect">
            <a:avLst/>
          </a:prstGeom>
          <a:solidFill>
            <a:srgbClr val="862E9C">
              <a:alpha val="12000"/>
            </a:srgbClr>
          </a:solidFill>
          <a:ln w="12700">
            <a:solidFill>
              <a:srgbClr val="862E9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Text 30"/>
          <p:cNvSpPr/>
          <p:nvPr/>
        </p:nvSpPr>
        <p:spPr>
          <a:xfrm>
            <a:off x="7004304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 COCA/SIUI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71600" y="30175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Copilot · Diagnostic Accuracy · Claims Protection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4381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levio.health · diana@levio.health · Station F F/ai · Sep–Dec 2026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97280" y="3840480"/>
            <a:ext cx="6949440" cy="96012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Text 34"/>
          <p:cNvSpPr/>
          <p:nvPr/>
        </p:nvSpPr>
        <p:spPr>
          <a:xfrm>
            <a:off x="1280160" y="388620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"Medicine will absolutely be assisted by AI in the coming years. But we must ensure it gets the differential diagnosis right. Get that right — and the treatment recommendations will be right too."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280160" y="446227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Traian, Psychiatrist · Romania · 5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4021</Words>
  <Application>Microsoft Macintosh PowerPoint</Application>
  <PresentationFormat>On-screen Show (16:9)</PresentationFormat>
  <Paragraphs>718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Georgia</vt:lpstr>
      <vt:lpstr>Palatino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Levio — Station F F/ai 2026</dc:title>
  <dc:subject>PptxGenJS Presentation</dc:subject>
  <dc:creator>PptxGenJS</dc:creator>
  <cp:lastModifiedBy>Diana Pirjol</cp:lastModifiedBy>
  <cp:revision>8</cp:revision>
  <dcterms:created xsi:type="dcterms:W3CDTF">2026-03-06T11:50:58Z</dcterms:created>
  <dcterms:modified xsi:type="dcterms:W3CDTF">2026-03-09T15:47:39Z</dcterms:modified>
</cp:coreProperties>
</file>